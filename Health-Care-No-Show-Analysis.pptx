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Arial Black" panose="020B0A04020102020204" pitchFamily="34" charset="0"/>
      <p:bold r:id="rId14"/>
    </p:embeddedFont>
    <p:embeddedFont>
      <p:font typeface="Bricolage Grotesque ExtraBold" panose="020B0604020202020204" charset="0"/>
      <p:regular r:id="rId15"/>
    </p:embeddedFont>
    <p:embeddedFont>
      <p:font typeface="Cambria Math" panose="02040503050406030204" pitchFamily="18" charset="0"/>
      <p:regular r:id="rId16"/>
    </p:embeddedFont>
    <p:embeddedFont>
      <p:font typeface="Montserrat" panose="00000500000000000000" pitchFamily="2" charset="0"/>
      <p:regular r:id="rId17"/>
    </p:embeddedFont>
    <p:embeddedFont>
      <p:font typeface="Montserrat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0E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677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82D5E"/>
          </a:solidFill>
          <a:ln/>
        </p:spPr>
      </p:sp>
      <p:sp>
        <p:nvSpPr>
          <p:cNvPr id="3" name="Shape 1"/>
          <p:cNvSpPr/>
          <p:nvPr/>
        </p:nvSpPr>
        <p:spPr>
          <a:xfrm>
            <a:off x="0" y="0"/>
            <a:ext cx="9144000" cy="51435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543550" y="0"/>
            <a:ext cx="3600450" cy="5143500"/>
          </a:xfrm>
          <a:prstGeom prst="rect">
            <a:avLst/>
          </a:prstGeom>
        </p:spPr>
      </p:pic>
      <p:sp>
        <p:nvSpPr>
          <p:cNvPr id="3" name="Text 0"/>
          <p:cNvSpPr/>
          <p:nvPr/>
        </p:nvSpPr>
        <p:spPr>
          <a:xfrm>
            <a:off x="496119" y="1469306"/>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EEAEF6"/>
                </a:solidFill>
                <a:latin typeface="Arial Black" panose="020B0A04020102020204" pitchFamily="34" charset="0"/>
                <a:ea typeface="Cambria Math" panose="02040503050406030204" pitchFamily="18" charset="0"/>
                <a:cs typeface="Bricolage Grotesque ExtraBold" pitchFamily="34" charset="-120"/>
              </a:rPr>
              <a:t>Health-Care</a:t>
            </a:r>
            <a:r>
              <a:rPr lang="en-US" sz="2750" dirty="0">
                <a:solidFill>
                  <a:srgbClr val="EEAEF6"/>
                </a:solidFill>
                <a:latin typeface="Cambria Math" panose="02040503050406030204" pitchFamily="18" charset="0"/>
                <a:ea typeface="Cambria Math" panose="02040503050406030204" pitchFamily="18" charset="0"/>
                <a:cs typeface="Bricolage Grotesque ExtraBold" pitchFamily="34" charset="-120"/>
              </a:rPr>
              <a:t> No-Show Analysis</a:t>
            </a:r>
            <a:endParaRPr lang="en-US" sz="2750" dirty="0">
              <a:latin typeface="Cambria Math" panose="02040503050406030204" pitchFamily="18" charset="0"/>
              <a:ea typeface="Cambria Math" panose="02040503050406030204" pitchFamily="18" charset="0"/>
            </a:endParaRPr>
          </a:p>
        </p:txBody>
      </p:sp>
      <p:sp>
        <p:nvSpPr>
          <p:cNvPr id="4" name="Text 1"/>
          <p:cNvSpPr/>
          <p:nvPr/>
        </p:nvSpPr>
        <p:spPr>
          <a:xfrm>
            <a:off x="496119" y="2567880"/>
            <a:ext cx="4722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DCE6"/>
                </a:solidFill>
                <a:latin typeface="Montserrat" pitchFamily="34" charset="0"/>
                <a:ea typeface="Montserrat" pitchFamily="34" charset="-122"/>
                <a:cs typeface="Montserrat" pitchFamily="34" charset="-120"/>
              </a:rPr>
              <a:t>A data-driven investigation into the factors driving missed appointments — enabling healthcare administrators to reduce waste, improve scheduling, and strengthen patient engagement.</a:t>
            </a:r>
            <a:endParaRPr lang="en-US" sz="1100" dirty="0"/>
          </a:p>
        </p:txBody>
      </p:sp>
      <p:sp>
        <p:nvSpPr>
          <p:cNvPr id="5" name="Shape 2"/>
          <p:cNvSpPr/>
          <p:nvPr/>
        </p:nvSpPr>
        <p:spPr>
          <a:xfrm>
            <a:off x="496119" y="3407792"/>
            <a:ext cx="1748210" cy="266402"/>
          </a:xfrm>
          <a:prstGeom prst="roundRect">
            <a:avLst>
              <a:gd name="adj" fmla="val 17880"/>
            </a:avLst>
          </a:prstGeom>
          <a:solidFill>
            <a:srgbClr val="3E0845"/>
          </a:solidFill>
          <a:ln/>
        </p:spPr>
      </p:sp>
      <p:sp>
        <p:nvSpPr>
          <p:cNvPr id="6" name="Text 3"/>
          <p:cNvSpPr/>
          <p:nvPr/>
        </p:nvSpPr>
        <p:spPr>
          <a:xfrm>
            <a:off x="581174" y="3450282"/>
            <a:ext cx="2035299" cy="181421"/>
          </a:xfrm>
          <a:prstGeom prst="rect">
            <a:avLst/>
          </a:prstGeom>
          <a:noFill/>
          <a:ln/>
        </p:spPr>
        <p:txBody>
          <a:bodyPr wrap="none" lIns="0" tIns="0" rIns="0" bIns="0" rtlCol="0" anchor="t"/>
          <a:lstStyle/>
          <a:p>
            <a:pPr marL="0" indent="0" algn="l">
              <a:lnSpc>
                <a:spcPct val="133000"/>
              </a:lnSpc>
              <a:buNone/>
            </a:pPr>
            <a:r>
              <a:rPr lang="en-US" sz="850" dirty="0">
                <a:solidFill>
                  <a:srgbClr val="E5DCE6"/>
                </a:solidFill>
                <a:latin typeface="Montserrat" pitchFamily="34" charset="0"/>
                <a:ea typeface="Montserrat" pitchFamily="34" charset="-122"/>
                <a:cs typeface="Montserrat" pitchFamily="34" charset="-120"/>
              </a:rPr>
              <a:t>HEALTHCARE OPERATIONS</a:t>
            </a:r>
            <a:endParaRPr lang="en-US" sz="850" dirty="0"/>
          </a:p>
        </p:txBody>
      </p:sp>
      <p:sp>
        <p:nvSpPr>
          <p:cNvPr id="7" name="Shape 4"/>
          <p:cNvSpPr/>
          <p:nvPr/>
        </p:nvSpPr>
        <p:spPr>
          <a:xfrm>
            <a:off x="2315170" y="3407792"/>
            <a:ext cx="1528688" cy="266402"/>
          </a:xfrm>
          <a:prstGeom prst="roundRect">
            <a:avLst>
              <a:gd name="adj" fmla="val 17880"/>
            </a:avLst>
          </a:prstGeom>
          <a:noFill/>
          <a:ln/>
          <a:effectLst>
            <a:outerShdw blurRad="101600" dist="50800" dir="16200000" algn="bl" rotWithShape="0">
              <a:srgbClr val="EEAEF6">
                <a:alpha val="100000"/>
              </a:srgbClr>
            </a:outerShdw>
          </a:effectLst>
        </p:spPr>
      </p:sp>
      <p:sp>
        <p:nvSpPr>
          <p:cNvPr id="8" name="Text 5"/>
          <p:cNvSpPr/>
          <p:nvPr/>
        </p:nvSpPr>
        <p:spPr>
          <a:xfrm>
            <a:off x="2400226" y="3450282"/>
            <a:ext cx="1815778" cy="181421"/>
          </a:xfrm>
          <a:prstGeom prst="rect">
            <a:avLst/>
          </a:prstGeom>
          <a:noFill/>
          <a:ln/>
        </p:spPr>
        <p:txBody>
          <a:bodyPr wrap="none" lIns="0" tIns="0" rIns="0" bIns="0" rtlCol="0" anchor="t"/>
          <a:lstStyle/>
          <a:p>
            <a:pPr marL="0" indent="0" algn="l">
              <a:lnSpc>
                <a:spcPct val="133000"/>
              </a:lnSpc>
              <a:buNone/>
            </a:pPr>
            <a:r>
              <a:rPr lang="en-US" sz="850" dirty="0">
                <a:solidFill>
                  <a:srgbClr val="EEAEF6"/>
                </a:solidFill>
                <a:latin typeface="Montserrat" pitchFamily="34" charset="0"/>
                <a:ea typeface="Montserrat" pitchFamily="34" charset="-122"/>
                <a:cs typeface="Montserrat" pitchFamily="34" charset="-120"/>
              </a:rPr>
              <a:t>PREDICTIVE ANALYTICS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404887"/>
            <a:ext cx="7627739" cy="394543"/>
          </a:xfrm>
          <a:prstGeom prst="rect">
            <a:avLst/>
          </a:prstGeom>
          <a:noFill/>
          <a:ln/>
        </p:spPr>
        <p:txBody>
          <a:bodyPr wrap="none" lIns="0" tIns="0" rIns="0" bIns="0" rtlCol="0" anchor="t"/>
          <a:lstStyle/>
          <a:p>
            <a:pPr marL="0" indent="0" algn="l">
              <a:lnSpc>
                <a:spcPct val="104000"/>
              </a:lnSpc>
              <a:buNone/>
            </a:pPr>
            <a:r>
              <a:rPr lang="en-US" sz="2450" dirty="0">
                <a:solidFill>
                  <a:srgbClr val="EEAEF6"/>
                </a:solidFill>
                <a:latin typeface="Bricolage Grotesque ExtraBold" pitchFamily="34" charset="0"/>
                <a:ea typeface="Bricolage Grotesque ExtraBold" pitchFamily="34" charset="-122"/>
                <a:cs typeface="Bricolage Grotesque ExtraBold" pitchFamily="34" charset="-120"/>
              </a:rPr>
              <a:t>The Operational Cost of Missed Appointments</a:t>
            </a:r>
            <a:endParaRPr lang="en-US" sz="2450" dirty="0"/>
          </a:p>
        </p:txBody>
      </p:sp>
      <p:pic>
        <p:nvPicPr>
          <p:cNvPr id="3" name="Image 0" descr="preencoded.png"/>
          <p:cNvPicPr>
            <a:picLocks noChangeAspect="1"/>
          </p:cNvPicPr>
          <p:nvPr/>
        </p:nvPicPr>
        <p:blipFill>
          <a:blip r:embed="rId3"/>
          <a:stretch>
            <a:fillRect/>
          </a:stretch>
        </p:blipFill>
        <p:spPr>
          <a:xfrm>
            <a:off x="496119" y="1094556"/>
            <a:ext cx="5190753" cy="2941365"/>
          </a:xfrm>
          <a:prstGeom prst="rect">
            <a:avLst/>
          </a:prstGeom>
        </p:spPr>
      </p:pic>
      <p:sp>
        <p:nvSpPr>
          <p:cNvPr id="4" name="Text 1"/>
          <p:cNvSpPr/>
          <p:nvPr/>
        </p:nvSpPr>
        <p:spPr>
          <a:xfrm>
            <a:off x="5999708" y="1747689"/>
            <a:ext cx="2035448" cy="197272"/>
          </a:xfrm>
          <a:prstGeom prst="rect">
            <a:avLst/>
          </a:prstGeom>
          <a:noFill/>
          <a:ln/>
        </p:spPr>
        <p:txBody>
          <a:bodyPr wrap="none" lIns="0" tIns="0" rIns="0" bIns="0" rtlCol="0" anchor="t"/>
          <a:lstStyle/>
          <a:p>
            <a:pPr marL="0" indent="0" algn="l">
              <a:lnSpc>
                <a:spcPct val="104000"/>
              </a:lnSpc>
              <a:buNone/>
            </a:pPr>
            <a:r>
              <a:rPr lang="en-US" sz="1200" dirty="0">
                <a:solidFill>
                  <a:srgbClr val="EEAEF6"/>
                </a:solidFill>
                <a:latin typeface="Bricolage Grotesque ExtraBold" pitchFamily="34" charset="0"/>
                <a:ea typeface="Bricolage Grotesque ExtraBold" pitchFamily="34" charset="-122"/>
                <a:cs typeface="Bricolage Grotesque ExtraBold" pitchFamily="34" charset="-120"/>
              </a:rPr>
              <a:t>Why This Matters</a:t>
            </a:r>
            <a:endParaRPr lang="en-US" sz="1200" dirty="0"/>
          </a:p>
        </p:txBody>
      </p:sp>
      <p:sp>
        <p:nvSpPr>
          <p:cNvPr id="5" name="Text 2"/>
          <p:cNvSpPr/>
          <p:nvPr/>
        </p:nvSpPr>
        <p:spPr>
          <a:xfrm>
            <a:off x="5999708" y="2057400"/>
            <a:ext cx="2652861" cy="1336625"/>
          </a:xfrm>
          <a:prstGeom prst="rect">
            <a:avLst/>
          </a:prstGeom>
          <a:noFill/>
          <a:ln/>
        </p:spPr>
        <p:txBody>
          <a:bodyPr wrap="square" lIns="0" tIns="0" rIns="0" bIns="0" rtlCol="0" anchor="t">
            <a:noAutofit/>
          </a:bodyPr>
          <a:lstStyle/>
          <a:p>
            <a:pPr marL="0" indent="0" algn="just">
              <a:lnSpc>
                <a:spcPct val="126000"/>
              </a:lnSpc>
              <a:buNone/>
            </a:pPr>
            <a:r>
              <a:rPr lang="en-US" sz="1100" dirty="0">
                <a:solidFill>
                  <a:srgbClr val="E5DCE6"/>
                </a:solidFill>
                <a:latin typeface="Montserrat" pitchFamily="34" charset="0"/>
                <a:ea typeface="Montserrat" pitchFamily="34" charset="-122"/>
                <a:cs typeface="Montserrat" pitchFamily="34" charset="-120"/>
              </a:rPr>
              <a:t>When patients miss appointments without notice, clinics face wasted slots, idle staff, longer waits, and lost revenue. This analysis examines demographics, scheduling patterns, reminders, distance, weather, and satisfaction to identify drivers of no-show behavior.</a:t>
            </a:r>
            <a:endParaRPr lang="en-US" sz="1100" dirty="0"/>
          </a:p>
        </p:txBody>
      </p:sp>
      <p:sp>
        <p:nvSpPr>
          <p:cNvPr id="6" name="Shape 3"/>
          <p:cNvSpPr/>
          <p:nvPr/>
        </p:nvSpPr>
        <p:spPr>
          <a:xfrm>
            <a:off x="496119" y="4288929"/>
            <a:ext cx="1953592" cy="449684"/>
          </a:xfrm>
          <a:prstGeom prst="roundRect">
            <a:avLst>
              <a:gd name="adj" fmla="val 11793"/>
            </a:avLst>
          </a:prstGeom>
          <a:solidFill>
            <a:srgbClr val="282D5E"/>
          </a:solidFill>
          <a:ln/>
        </p:spPr>
      </p:sp>
      <p:sp>
        <p:nvSpPr>
          <p:cNvPr id="7" name="Text 4"/>
          <p:cNvSpPr/>
          <p:nvPr/>
        </p:nvSpPr>
        <p:spPr>
          <a:xfrm>
            <a:off x="622325" y="4415135"/>
            <a:ext cx="1578248" cy="197272"/>
          </a:xfrm>
          <a:prstGeom prst="rect">
            <a:avLst/>
          </a:prstGeom>
          <a:noFill/>
          <a:ln/>
        </p:spPr>
        <p:txBody>
          <a:bodyPr wrap="none" lIns="0" tIns="0" rIns="0" bIns="0" rtlCol="0" anchor="t"/>
          <a:lstStyle/>
          <a:p>
            <a:pPr marL="0" indent="0" algn="l">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Wasted Slots</a:t>
            </a:r>
            <a:endParaRPr lang="en-US" sz="1200" dirty="0"/>
          </a:p>
        </p:txBody>
      </p:sp>
      <p:sp>
        <p:nvSpPr>
          <p:cNvPr id="8" name="Shape 5"/>
          <p:cNvSpPr/>
          <p:nvPr/>
        </p:nvSpPr>
        <p:spPr>
          <a:xfrm>
            <a:off x="2562151" y="4288929"/>
            <a:ext cx="1953592" cy="449684"/>
          </a:xfrm>
          <a:prstGeom prst="roundRect">
            <a:avLst>
              <a:gd name="adj" fmla="val 11793"/>
            </a:avLst>
          </a:prstGeom>
          <a:solidFill>
            <a:srgbClr val="282D5E"/>
          </a:solidFill>
          <a:ln/>
        </p:spPr>
      </p:sp>
      <p:sp>
        <p:nvSpPr>
          <p:cNvPr id="9" name="Text 6"/>
          <p:cNvSpPr/>
          <p:nvPr/>
        </p:nvSpPr>
        <p:spPr>
          <a:xfrm>
            <a:off x="2688357" y="4415135"/>
            <a:ext cx="1578248" cy="197272"/>
          </a:xfrm>
          <a:prstGeom prst="rect">
            <a:avLst/>
          </a:prstGeom>
          <a:noFill/>
          <a:ln/>
        </p:spPr>
        <p:txBody>
          <a:bodyPr wrap="none" lIns="0" tIns="0" rIns="0" bIns="0" rtlCol="0" anchor="t"/>
          <a:lstStyle/>
          <a:p>
            <a:pPr marL="0" indent="0" algn="l">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Higher Costs</a:t>
            </a:r>
            <a:endParaRPr lang="en-US" sz="1200" dirty="0"/>
          </a:p>
        </p:txBody>
      </p:sp>
      <p:sp>
        <p:nvSpPr>
          <p:cNvPr id="10" name="Shape 7"/>
          <p:cNvSpPr/>
          <p:nvPr/>
        </p:nvSpPr>
        <p:spPr>
          <a:xfrm>
            <a:off x="4628183" y="4288929"/>
            <a:ext cx="1953592" cy="449684"/>
          </a:xfrm>
          <a:prstGeom prst="roundRect">
            <a:avLst>
              <a:gd name="adj" fmla="val 11793"/>
            </a:avLst>
          </a:prstGeom>
          <a:solidFill>
            <a:srgbClr val="282D5E"/>
          </a:solidFill>
          <a:ln/>
        </p:spPr>
      </p:sp>
      <p:sp>
        <p:nvSpPr>
          <p:cNvPr id="11" name="Text 8"/>
          <p:cNvSpPr/>
          <p:nvPr/>
        </p:nvSpPr>
        <p:spPr>
          <a:xfrm>
            <a:off x="4754389" y="4415135"/>
            <a:ext cx="1578248" cy="197272"/>
          </a:xfrm>
          <a:prstGeom prst="rect">
            <a:avLst/>
          </a:prstGeom>
          <a:noFill/>
          <a:ln/>
        </p:spPr>
        <p:txBody>
          <a:bodyPr wrap="none" lIns="0" tIns="0" rIns="0" bIns="0" rtlCol="0" anchor="t"/>
          <a:lstStyle/>
          <a:p>
            <a:pPr marL="0" indent="0" algn="l">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Longer Waits</a:t>
            </a:r>
            <a:endParaRPr lang="en-US" sz="1200" dirty="0"/>
          </a:p>
        </p:txBody>
      </p:sp>
      <p:sp>
        <p:nvSpPr>
          <p:cNvPr id="12" name="Shape 9"/>
          <p:cNvSpPr/>
          <p:nvPr/>
        </p:nvSpPr>
        <p:spPr>
          <a:xfrm>
            <a:off x="6694215" y="4288929"/>
            <a:ext cx="1953667" cy="449684"/>
          </a:xfrm>
          <a:prstGeom prst="roundRect">
            <a:avLst>
              <a:gd name="adj" fmla="val 11793"/>
            </a:avLst>
          </a:prstGeom>
          <a:solidFill>
            <a:srgbClr val="282D5E"/>
          </a:solidFill>
          <a:ln/>
        </p:spPr>
      </p:sp>
      <p:sp>
        <p:nvSpPr>
          <p:cNvPr id="13" name="Text 10"/>
          <p:cNvSpPr/>
          <p:nvPr/>
        </p:nvSpPr>
        <p:spPr>
          <a:xfrm>
            <a:off x="6820421" y="4415135"/>
            <a:ext cx="1578248" cy="197272"/>
          </a:xfrm>
          <a:prstGeom prst="rect">
            <a:avLst/>
          </a:prstGeom>
          <a:noFill/>
          <a:ln/>
        </p:spPr>
        <p:txBody>
          <a:bodyPr wrap="none" lIns="0" tIns="0" rIns="0" bIns="0" rtlCol="0" anchor="t"/>
          <a:lstStyle/>
          <a:p>
            <a:pPr marL="0" indent="0" algn="l">
              <a:lnSpc>
                <a:spcPct val="104000"/>
              </a:lnSpc>
              <a:buNone/>
            </a:pPr>
            <a:r>
              <a:rPr lang="en-US" sz="1200" dirty="0">
                <a:solidFill>
                  <a:srgbClr val="E5DCE6"/>
                </a:solidFill>
                <a:latin typeface="Bricolage Grotesque ExtraBold" pitchFamily="34" charset="0"/>
                <a:ea typeface="Bricolage Grotesque ExtraBold" pitchFamily="34" charset="-122"/>
                <a:cs typeface="Bricolage Grotesque ExtraBold" pitchFamily="34" charset="-120"/>
              </a:rPr>
              <a:t>Lost Revenue</a:t>
            </a:r>
            <a:endParaRPr lang="en-US" sz="1200" dirty="0"/>
          </a:p>
        </p:txBody>
      </p:sp>
      <p:sp>
        <p:nvSpPr>
          <p:cNvPr id="14" name="Rectangle 13">
            <a:extLst>
              <a:ext uri="{FF2B5EF4-FFF2-40B4-BE49-F238E27FC236}">
                <a16:creationId xmlns:a16="http://schemas.microsoft.com/office/drawing/2014/main" id="{76819237-4563-AAEF-39FB-E081196AF2D0}"/>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395213"/>
            <a:ext cx="2506117" cy="256059"/>
          </a:xfrm>
          <a:prstGeom prst="rect">
            <a:avLst/>
          </a:prstGeom>
          <a:noFill/>
          <a:ln/>
        </p:spPr>
        <p:txBody>
          <a:bodyPr wrap="none" lIns="0" tIns="0" rIns="0" bIns="0" rtlCol="0" anchor="t"/>
          <a:lstStyle/>
          <a:p>
            <a:pPr marL="0" indent="0" algn="l">
              <a:lnSpc>
                <a:spcPct val="104000"/>
              </a:lnSpc>
              <a:buNone/>
            </a:pPr>
            <a:r>
              <a:rPr lang="en-US" sz="1600" dirty="0">
                <a:solidFill>
                  <a:srgbClr val="EEAEF6"/>
                </a:solidFill>
                <a:latin typeface="Bricolage Grotesque ExtraBold" pitchFamily="34" charset="0"/>
                <a:ea typeface="Bricolage Grotesque ExtraBold" pitchFamily="34" charset="-122"/>
                <a:cs typeface="Bricolage Grotesque ExtraBold" pitchFamily="34" charset="-120"/>
              </a:rPr>
              <a:t>Analysis Roadmap</a:t>
            </a:r>
            <a:endParaRPr lang="en-US" sz="1600" dirty="0"/>
          </a:p>
        </p:txBody>
      </p:sp>
      <p:pic>
        <p:nvPicPr>
          <p:cNvPr id="3" name="Image 0" descr="preencoded.png"/>
          <p:cNvPicPr>
            <a:picLocks noChangeAspect="1"/>
          </p:cNvPicPr>
          <p:nvPr/>
        </p:nvPicPr>
        <p:blipFill>
          <a:blip r:embed="rId3"/>
          <a:stretch>
            <a:fillRect/>
          </a:stretch>
        </p:blipFill>
        <p:spPr>
          <a:xfrm>
            <a:off x="638324" y="746001"/>
            <a:ext cx="7867352" cy="3845570"/>
          </a:xfrm>
          <a:prstGeom prst="rect">
            <a:avLst/>
          </a:prstGeom>
        </p:spPr>
      </p:pic>
      <p:sp>
        <p:nvSpPr>
          <p:cNvPr id="4" name="Text 1"/>
          <p:cNvSpPr/>
          <p:nvPr/>
        </p:nvSpPr>
        <p:spPr>
          <a:xfrm>
            <a:off x="1233942" y="2069132"/>
            <a:ext cx="1834107" cy="229263"/>
          </a:xfrm>
          <a:prstGeom prst="rect">
            <a:avLst/>
          </a:prstGeom>
          <a:noFill/>
          <a:ln/>
        </p:spPr>
        <p:txBody>
          <a:bodyPr wrap="none" lIns="0" tIns="0" rIns="0" bIns="0" rtlCol="0" anchor="t"/>
          <a:lstStyle/>
          <a:p>
            <a:pPr marL="0" indent="0" algn="ctr">
              <a:lnSpc>
                <a:spcPct val="104000"/>
              </a:lnSpc>
              <a:buNone/>
            </a:pPr>
            <a:r>
              <a:rPr lang="en-US" sz="1400" dirty="0">
                <a:solidFill>
                  <a:srgbClr val="E5DCE6"/>
                </a:solidFill>
                <a:latin typeface="Bricolage Grotesque ExtraBold" pitchFamily="34" charset="0"/>
                <a:ea typeface="Bricolage Grotesque ExtraBold" pitchFamily="34" charset="-122"/>
                <a:cs typeface="Bricolage Grotesque ExtraBold" pitchFamily="34" charset="-120"/>
              </a:rPr>
              <a:t>Data Prep</a:t>
            </a:r>
            <a:endParaRPr lang="en-US" sz="1400" dirty="0"/>
          </a:p>
        </p:txBody>
      </p:sp>
      <p:sp>
        <p:nvSpPr>
          <p:cNvPr id="5" name="Text 2"/>
          <p:cNvSpPr/>
          <p:nvPr/>
        </p:nvSpPr>
        <p:spPr>
          <a:xfrm>
            <a:off x="5171158" y="1188761"/>
            <a:ext cx="1834107" cy="229263"/>
          </a:xfrm>
          <a:prstGeom prst="rect">
            <a:avLst/>
          </a:prstGeom>
          <a:noFill/>
          <a:ln/>
        </p:spPr>
        <p:txBody>
          <a:bodyPr wrap="none" lIns="0" tIns="0" rIns="0" bIns="0" rtlCol="0" anchor="t"/>
          <a:lstStyle/>
          <a:p>
            <a:pPr marL="0" indent="0" algn="ctr">
              <a:lnSpc>
                <a:spcPct val="104000"/>
              </a:lnSpc>
              <a:buNone/>
            </a:pPr>
            <a:r>
              <a:rPr lang="en-US" sz="1400" dirty="0">
                <a:solidFill>
                  <a:srgbClr val="E5DCE6"/>
                </a:solidFill>
                <a:latin typeface="Bricolage Grotesque ExtraBold" pitchFamily="34" charset="0"/>
                <a:ea typeface="Bricolage Grotesque ExtraBold" pitchFamily="34" charset="-122"/>
                <a:cs typeface="Bricolage Grotesque ExtraBold" pitchFamily="34" charset="-120"/>
              </a:rPr>
              <a:t>Patient Profile</a:t>
            </a:r>
            <a:endParaRPr lang="en-US" sz="1400" dirty="0"/>
          </a:p>
        </p:txBody>
      </p:sp>
      <p:sp>
        <p:nvSpPr>
          <p:cNvPr id="6" name="Text 3"/>
          <p:cNvSpPr/>
          <p:nvPr/>
        </p:nvSpPr>
        <p:spPr>
          <a:xfrm>
            <a:off x="6075856" y="2998413"/>
            <a:ext cx="1834107" cy="229263"/>
          </a:xfrm>
          <a:prstGeom prst="rect">
            <a:avLst/>
          </a:prstGeom>
          <a:noFill/>
          <a:ln/>
        </p:spPr>
        <p:txBody>
          <a:bodyPr wrap="none" lIns="0" tIns="0" rIns="0" bIns="0" rtlCol="0" anchor="t"/>
          <a:lstStyle/>
          <a:p>
            <a:pPr marL="0" indent="0" algn="ctr">
              <a:lnSpc>
                <a:spcPct val="104000"/>
              </a:lnSpc>
              <a:buNone/>
            </a:pPr>
            <a:r>
              <a:rPr lang="en-US" sz="1400" dirty="0">
                <a:solidFill>
                  <a:srgbClr val="E5DCE6"/>
                </a:solidFill>
                <a:latin typeface="Bricolage Grotesque ExtraBold" pitchFamily="34" charset="0"/>
                <a:ea typeface="Bricolage Grotesque ExtraBold" pitchFamily="34" charset="-122"/>
                <a:cs typeface="Bricolage Grotesque ExtraBold" pitchFamily="34" charset="-120"/>
              </a:rPr>
              <a:t>Scheduling &amp; Comm</a:t>
            </a:r>
            <a:endParaRPr lang="en-US" sz="1400" dirty="0"/>
          </a:p>
        </p:txBody>
      </p:sp>
      <p:sp>
        <p:nvSpPr>
          <p:cNvPr id="7" name="Text 4"/>
          <p:cNvSpPr/>
          <p:nvPr/>
        </p:nvSpPr>
        <p:spPr>
          <a:xfrm>
            <a:off x="2130616" y="3895088"/>
            <a:ext cx="1834107" cy="229263"/>
          </a:xfrm>
          <a:prstGeom prst="rect">
            <a:avLst/>
          </a:prstGeom>
          <a:noFill/>
          <a:ln/>
        </p:spPr>
        <p:txBody>
          <a:bodyPr wrap="none" lIns="0" tIns="0" rIns="0" bIns="0" rtlCol="0" anchor="t"/>
          <a:lstStyle/>
          <a:p>
            <a:pPr marL="0" indent="0" algn="ctr">
              <a:lnSpc>
                <a:spcPct val="104000"/>
              </a:lnSpc>
              <a:buNone/>
            </a:pPr>
            <a:r>
              <a:rPr lang="en-US" sz="1400" dirty="0">
                <a:solidFill>
                  <a:srgbClr val="E5DCE6"/>
                </a:solidFill>
                <a:latin typeface="Bricolage Grotesque ExtraBold" pitchFamily="34" charset="0"/>
                <a:ea typeface="Bricolage Grotesque ExtraBold" pitchFamily="34" charset="-122"/>
                <a:cs typeface="Bricolage Grotesque ExtraBold" pitchFamily="34" charset="-120"/>
              </a:rPr>
              <a:t>Clinic &amp; Env</a:t>
            </a:r>
            <a:endParaRPr lang="en-US" sz="1400" dirty="0"/>
          </a:p>
        </p:txBody>
      </p:sp>
      <p:sp>
        <p:nvSpPr>
          <p:cNvPr id="8" name="Text 5"/>
          <p:cNvSpPr/>
          <p:nvPr/>
        </p:nvSpPr>
        <p:spPr>
          <a:xfrm>
            <a:off x="496119" y="4644851"/>
            <a:ext cx="8608963" cy="103436"/>
          </a:xfrm>
          <a:prstGeom prst="rect">
            <a:avLst/>
          </a:prstGeom>
          <a:noFill/>
          <a:ln/>
        </p:spPr>
        <p:txBody>
          <a:bodyPr wrap="none" lIns="0" tIns="0" rIns="0" bIns="0" rtlCol="0" anchor="t"/>
          <a:lstStyle/>
          <a:p>
            <a:pPr marL="0" indent="0" algn="l">
              <a:lnSpc>
                <a:spcPct val="105000"/>
              </a:lnSpc>
              <a:buNone/>
            </a:pPr>
            <a:r>
              <a:rPr lang="en-US" sz="600" dirty="0">
                <a:solidFill>
                  <a:srgbClr val="E5DCE6"/>
                </a:solidFill>
                <a:latin typeface="Montserrat" pitchFamily="34" charset="0"/>
                <a:ea typeface="Montserrat" pitchFamily="34" charset="-122"/>
                <a:cs typeface="Montserrat" pitchFamily="34" charset="-120"/>
              </a:rPr>
              <a:t>Each phase isolates a distinct dimension of no-show behavior, building toward actionable, evidence-based recommendations for clinic operations.</a:t>
            </a:r>
            <a:endParaRPr lang="en-US" sz="600" dirty="0"/>
          </a:p>
        </p:txBody>
      </p:sp>
      <p:sp>
        <p:nvSpPr>
          <p:cNvPr id="9" name="Rectangle 8">
            <a:extLst>
              <a:ext uri="{FF2B5EF4-FFF2-40B4-BE49-F238E27FC236}">
                <a16:creationId xmlns:a16="http://schemas.microsoft.com/office/drawing/2014/main" id="{F846AEB9-C9CE-6BF5-38C6-536F3D798090}"/>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91046"/>
            <a:ext cx="4574009" cy="359941"/>
          </a:xfrm>
          <a:prstGeom prst="rect">
            <a:avLst/>
          </a:prstGeom>
          <a:noFill/>
          <a:ln/>
        </p:spPr>
        <p:txBody>
          <a:bodyPr wrap="none" lIns="0" tIns="0" rIns="0" bIns="0" rtlCol="0" anchor="t"/>
          <a:lstStyle/>
          <a:p>
            <a:pPr marL="0" indent="0" algn="l">
              <a:lnSpc>
                <a:spcPct val="104000"/>
              </a:lnSpc>
              <a:buNone/>
            </a:pPr>
            <a:r>
              <a:rPr lang="en-US" sz="2250" dirty="0">
                <a:solidFill>
                  <a:srgbClr val="EEAEF6"/>
                </a:solidFill>
                <a:latin typeface="Bricolage Grotesque ExtraBold" pitchFamily="34" charset="0"/>
                <a:ea typeface="Bricolage Grotesque ExtraBold" pitchFamily="34" charset="-122"/>
                <a:cs typeface="Bricolage Grotesque ExtraBold" pitchFamily="34" charset="-120"/>
              </a:rPr>
              <a:t>Overall No-Show Rate: ~8.3%</a:t>
            </a:r>
            <a:endParaRPr lang="en-US" sz="2250" dirty="0"/>
          </a:p>
        </p:txBody>
      </p:sp>
      <p:sp>
        <p:nvSpPr>
          <p:cNvPr id="3" name="Shape 1"/>
          <p:cNvSpPr/>
          <p:nvPr/>
        </p:nvSpPr>
        <p:spPr>
          <a:xfrm>
            <a:off x="496119" y="996553"/>
            <a:ext cx="1920925" cy="1088827"/>
          </a:xfrm>
          <a:prstGeom prst="roundRect">
            <a:avLst>
              <a:gd name="adj" fmla="val 4443"/>
            </a:avLst>
          </a:prstGeom>
          <a:solidFill>
            <a:srgbClr val="282D5E"/>
          </a:solidFill>
          <a:ln/>
        </p:spPr>
      </p:sp>
      <p:sp>
        <p:nvSpPr>
          <p:cNvPr id="4" name="Text 2"/>
          <p:cNvSpPr/>
          <p:nvPr/>
        </p:nvSpPr>
        <p:spPr>
          <a:xfrm>
            <a:off x="611237" y="1111672"/>
            <a:ext cx="1549896" cy="179933"/>
          </a:xfrm>
          <a:prstGeom prst="rect">
            <a:avLst/>
          </a:prstGeom>
          <a:noFill/>
          <a:ln/>
        </p:spPr>
        <p:txBody>
          <a:bodyPr wrap="none" lIns="0" tIns="0" rIns="0" bIns="0" rtlCol="0" anchor="t"/>
          <a:lstStyle/>
          <a:p>
            <a:pPr marL="0" indent="0" algn="l">
              <a:lnSpc>
                <a:spcPct val="104000"/>
              </a:lnSpc>
              <a:buNone/>
            </a:pPr>
            <a:r>
              <a:rPr lang="en-US" sz="1100" dirty="0">
                <a:solidFill>
                  <a:srgbClr val="E5DCE6"/>
                </a:solidFill>
                <a:latin typeface="Bricolage Grotesque ExtraBold" pitchFamily="34" charset="0"/>
                <a:ea typeface="Bricolage Grotesque ExtraBold" pitchFamily="34" charset="-122"/>
                <a:cs typeface="Bricolage Grotesque ExtraBold" pitchFamily="34" charset="-120"/>
              </a:rPr>
              <a:t>Overall No-Show Rate</a:t>
            </a:r>
            <a:endParaRPr lang="en-US" sz="1100" dirty="0"/>
          </a:p>
        </p:txBody>
      </p:sp>
      <p:sp>
        <p:nvSpPr>
          <p:cNvPr id="5" name="Text 3"/>
          <p:cNvSpPr/>
          <p:nvPr/>
        </p:nvSpPr>
        <p:spPr>
          <a:xfrm>
            <a:off x="611237" y="1385143"/>
            <a:ext cx="1690687" cy="496714"/>
          </a:xfrm>
          <a:prstGeom prst="rect">
            <a:avLst/>
          </a:prstGeom>
          <a:noFill/>
          <a:ln/>
        </p:spPr>
        <p:txBody>
          <a:bodyPr wrap="none" lIns="0" tIns="0" rIns="0" bIns="0" rtlCol="0" anchor="t"/>
          <a:lstStyle/>
          <a:p>
            <a:pPr marL="0" indent="0" algn="l">
              <a:lnSpc>
                <a:spcPct val="104000"/>
              </a:lnSpc>
              <a:buNone/>
            </a:pPr>
            <a:r>
              <a:rPr lang="en-US" sz="3100" dirty="0">
                <a:solidFill>
                  <a:srgbClr val="E5DCE6"/>
                </a:solidFill>
                <a:latin typeface="Bricolage Grotesque ExtraBold" pitchFamily="34" charset="0"/>
                <a:ea typeface="Bricolage Grotesque ExtraBold" pitchFamily="34" charset="-122"/>
                <a:cs typeface="Bricolage Grotesque ExtraBold" pitchFamily="34" charset="-120"/>
              </a:rPr>
              <a:t>8.3%</a:t>
            </a:r>
            <a:endParaRPr lang="en-US" sz="3100" dirty="0"/>
          </a:p>
        </p:txBody>
      </p:sp>
      <p:sp>
        <p:nvSpPr>
          <p:cNvPr id="6" name="Shape 4"/>
          <p:cNvSpPr/>
          <p:nvPr/>
        </p:nvSpPr>
        <p:spPr>
          <a:xfrm>
            <a:off x="2510582" y="996553"/>
            <a:ext cx="1920925" cy="1088827"/>
          </a:xfrm>
          <a:prstGeom prst="roundRect">
            <a:avLst>
              <a:gd name="adj" fmla="val 4443"/>
            </a:avLst>
          </a:prstGeom>
          <a:solidFill>
            <a:srgbClr val="282D5E"/>
          </a:solidFill>
          <a:ln/>
        </p:spPr>
      </p:sp>
      <p:sp>
        <p:nvSpPr>
          <p:cNvPr id="7" name="Text 5"/>
          <p:cNvSpPr/>
          <p:nvPr/>
        </p:nvSpPr>
        <p:spPr>
          <a:xfrm>
            <a:off x="2625700" y="1111672"/>
            <a:ext cx="1637705" cy="179933"/>
          </a:xfrm>
          <a:prstGeom prst="rect">
            <a:avLst/>
          </a:prstGeom>
          <a:noFill/>
          <a:ln/>
        </p:spPr>
        <p:txBody>
          <a:bodyPr wrap="none" lIns="0" tIns="0" rIns="0" bIns="0" rtlCol="0" anchor="t"/>
          <a:lstStyle/>
          <a:p>
            <a:pPr marL="0" indent="0" algn="l">
              <a:lnSpc>
                <a:spcPct val="104000"/>
              </a:lnSpc>
              <a:buNone/>
            </a:pPr>
            <a:r>
              <a:rPr lang="en-US" sz="1100" dirty="0">
                <a:solidFill>
                  <a:srgbClr val="E5DCE6"/>
                </a:solidFill>
                <a:latin typeface="Bricolage Grotesque ExtraBold" pitchFamily="34" charset="0"/>
                <a:ea typeface="Bricolage Grotesque ExtraBold" pitchFamily="34" charset="-122"/>
                <a:cs typeface="Bricolage Grotesque ExtraBold" pitchFamily="34" charset="-120"/>
              </a:rPr>
              <a:t>Demographic Variation</a:t>
            </a:r>
            <a:endParaRPr lang="en-US" sz="1100" dirty="0"/>
          </a:p>
        </p:txBody>
      </p:sp>
      <p:sp>
        <p:nvSpPr>
          <p:cNvPr id="8" name="Text 6"/>
          <p:cNvSpPr/>
          <p:nvPr/>
        </p:nvSpPr>
        <p:spPr>
          <a:xfrm>
            <a:off x="2625700" y="1385143"/>
            <a:ext cx="1690687" cy="585118"/>
          </a:xfrm>
          <a:prstGeom prst="rect">
            <a:avLst/>
          </a:prstGeom>
          <a:noFill/>
          <a:ln/>
        </p:spPr>
        <p:txBody>
          <a:bodyPr wrap="square" lIns="0" tIns="0" rIns="0" bIns="0" rtlCol="0" anchor="t"/>
          <a:lstStyle/>
          <a:p>
            <a:pPr marL="0" indent="0" algn="l">
              <a:lnSpc>
                <a:spcPct val="121000"/>
              </a:lnSpc>
              <a:spcAft>
                <a:spcPts val="650"/>
              </a:spcAft>
              <a:buNone/>
            </a:pPr>
            <a:r>
              <a:rPr lang="en-US" sz="900" dirty="0">
                <a:solidFill>
                  <a:srgbClr val="E5DCE6"/>
                </a:solidFill>
                <a:latin typeface="Montserrat" pitchFamily="34" charset="0"/>
                <a:ea typeface="Montserrat" pitchFamily="34" charset="-122"/>
                <a:cs typeface="Montserrat" pitchFamily="34" charset="-120"/>
              </a:rPr>
              <a:t>Small</a:t>
            </a:r>
            <a:endParaRPr lang="en-US" sz="900" dirty="0"/>
          </a:p>
          <a:p>
            <a:pPr marL="0" indent="0" algn="l">
              <a:lnSpc>
                <a:spcPct val="121000"/>
              </a:lnSpc>
              <a:buNone/>
            </a:pPr>
            <a:r>
              <a:rPr lang="en-US" sz="900" dirty="0">
                <a:solidFill>
                  <a:srgbClr val="E5DCE6"/>
                </a:solidFill>
                <a:latin typeface="Montserrat" pitchFamily="34" charset="0"/>
                <a:ea typeface="Montserrat" pitchFamily="34" charset="-122"/>
                <a:cs typeface="Montserrat" pitchFamily="34" charset="-120"/>
              </a:rPr>
              <a:t>Age 8.04%–8.52%</a:t>
            </a:r>
            <a:endParaRPr lang="en-US" sz="900" dirty="0"/>
          </a:p>
          <a:p>
            <a:pPr marL="0" indent="0" algn="l">
              <a:lnSpc>
                <a:spcPct val="121000"/>
              </a:lnSpc>
              <a:buNone/>
            </a:pPr>
            <a:r>
              <a:rPr lang="en-US" sz="900" dirty="0">
                <a:solidFill>
                  <a:srgbClr val="E5DCE6"/>
                </a:solidFill>
                <a:latin typeface="Montserrat" pitchFamily="34" charset="0"/>
                <a:ea typeface="Montserrat" pitchFamily="34" charset="-122"/>
                <a:cs typeface="Montserrat" pitchFamily="34" charset="-120"/>
              </a:rPr>
              <a:t>City 8.01%–8.82%</a:t>
            </a:r>
            <a:endParaRPr lang="en-US" sz="900" dirty="0"/>
          </a:p>
        </p:txBody>
      </p:sp>
      <p:sp>
        <p:nvSpPr>
          <p:cNvPr id="9" name="Shape 7"/>
          <p:cNvSpPr/>
          <p:nvPr/>
        </p:nvSpPr>
        <p:spPr>
          <a:xfrm>
            <a:off x="496119" y="2178918"/>
            <a:ext cx="3935388" cy="2468240"/>
          </a:xfrm>
          <a:prstGeom prst="roundRect">
            <a:avLst>
              <a:gd name="adj" fmla="val 1960"/>
            </a:avLst>
          </a:prstGeom>
          <a:solidFill>
            <a:srgbClr val="282D5E"/>
          </a:solidFill>
          <a:ln/>
        </p:spPr>
      </p:sp>
      <p:sp>
        <p:nvSpPr>
          <p:cNvPr id="10" name="Text 8"/>
          <p:cNvSpPr/>
          <p:nvPr/>
        </p:nvSpPr>
        <p:spPr>
          <a:xfrm>
            <a:off x="611237" y="2294037"/>
            <a:ext cx="1466701" cy="179933"/>
          </a:xfrm>
          <a:prstGeom prst="rect">
            <a:avLst/>
          </a:prstGeom>
          <a:noFill/>
          <a:ln/>
        </p:spPr>
        <p:txBody>
          <a:bodyPr wrap="none" lIns="0" tIns="0" rIns="0" bIns="0" rtlCol="0" anchor="t"/>
          <a:lstStyle/>
          <a:p>
            <a:pPr marL="0" indent="0" algn="l">
              <a:lnSpc>
                <a:spcPct val="104000"/>
              </a:lnSpc>
              <a:buNone/>
            </a:pPr>
            <a:r>
              <a:rPr lang="en-US" sz="1100" dirty="0">
                <a:solidFill>
                  <a:srgbClr val="E5DCE6"/>
                </a:solidFill>
                <a:latin typeface="Bricolage Grotesque ExtraBold" pitchFamily="34" charset="0"/>
                <a:ea typeface="Bricolage Grotesque ExtraBold" pitchFamily="34" charset="-122"/>
                <a:cs typeface="Bricolage Grotesque ExtraBold" pitchFamily="34" charset="-120"/>
              </a:rPr>
              <a:t>Strongest Indicators</a:t>
            </a:r>
            <a:endParaRPr lang="en-US" sz="1100" dirty="0"/>
          </a:p>
        </p:txBody>
      </p:sp>
      <p:sp>
        <p:nvSpPr>
          <p:cNvPr id="11" name="Text 9"/>
          <p:cNvSpPr/>
          <p:nvPr/>
        </p:nvSpPr>
        <p:spPr>
          <a:xfrm>
            <a:off x="611237" y="2567508"/>
            <a:ext cx="3705151" cy="1964531"/>
          </a:xfrm>
          <a:prstGeom prst="rect">
            <a:avLst/>
          </a:prstGeom>
          <a:noFill/>
          <a:ln/>
        </p:spPr>
        <p:txBody>
          <a:bodyPr wrap="square" lIns="0" tIns="0" rIns="0" bIns="0" rtlCol="0" anchor="t">
            <a:normAutofit/>
          </a:bodyPr>
          <a:lstStyle/>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Waiting Days</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Previous No-Shows</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Sms Message</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Reminder Calls</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Patient Satisfaction</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Income Level</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Previous No-Shows</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Travel Distance</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Insurance Type</a:t>
            </a:r>
            <a:endParaRPr lang="en-US" sz="900" dirty="0"/>
          </a:p>
          <a:p>
            <a:pPr marL="182880" indent="-182880" algn="l">
              <a:lnSpc>
                <a:spcPct val="121000"/>
              </a:lnSpc>
              <a:buSzPct val="100000"/>
              <a:buChar char="•"/>
            </a:pPr>
            <a:r>
              <a:rPr lang="en-US" sz="900" dirty="0">
                <a:solidFill>
                  <a:srgbClr val="E5DCE6"/>
                </a:solidFill>
                <a:latin typeface="Montserrat" pitchFamily="34" charset="0"/>
                <a:ea typeface="Montserrat" pitchFamily="34" charset="-122"/>
                <a:cs typeface="Montserrat" pitchFamily="34" charset="-120"/>
              </a:rPr>
              <a:t>Weather Condition</a:t>
            </a:r>
            <a:endParaRPr lang="en-US" sz="900" dirty="0"/>
          </a:p>
        </p:txBody>
      </p:sp>
      <p:sp>
        <p:nvSpPr>
          <p:cNvPr id="12" name="Text 10"/>
          <p:cNvSpPr/>
          <p:nvPr/>
        </p:nvSpPr>
        <p:spPr>
          <a:xfrm>
            <a:off x="4717256" y="984870"/>
            <a:ext cx="1896963" cy="179933"/>
          </a:xfrm>
          <a:prstGeom prst="rect">
            <a:avLst/>
          </a:prstGeom>
          <a:noFill/>
          <a:ln/>
        </p:spPr>
        <p:txBody>
          <a:bodyPr wrap="none" lIns="0" tIns="0" rIns="0" bIns="0" rtlCol="0" anchor="t"/>
          <a:lstStyle/>
          <a:p>
            <a:pPr marL="0" indent="0" algn="l">
              <a:lnSpc>
                <a:spcPct val="104000"/>
              </a:lnSpc>
              <a:buNone/>
            </a:pPr>
            <a:r>
              <a:rPr lang="en-US" sz="1100" dirty="0">
                <a:solidFill>
                  <a:srgbClr val="EEAEF6"/>
                </a:solidFill>
                <a:latin typeface="Bricolage Grotesque ExtraBold" pitchFamily="34" charset="0"/>
                <a:ea typeface="Bricolage Grotesque ExtraBold" pitchFamily="34" charset="-122"/>
                <a:cs typeface="Bricolage Grotesque ExtraBold" pitchFamily="34" charset="-120"/>
              </a:rPr>
              <a:t>Key Insight</a:t>
            </a:r>
            <a:endParaRPr lang="en-US" sz="1100" dirty="0"/>
          </a:p>
        </p:txBody>
      </p:sp>
      <p:sp>
        <p:nvSpPr>
          <p:cNvPr id="13" name="Text 11"/>
          <p:cNvSpPr/>
          <p:nvPr/>
        </p:nvSpPr>
        <p:spPr>
          <a:xfrm>
            <a:off x="4717256" y="1258342"/>
            <a:ext cx="3935388" cy="667941"/>
          </a:xfrm>
          <a:prstGeom prst="rect">
            <a:avLst/>
          </a:prstGeom>
          <a:noFill/>
          <a:ln/>
        </p:spPr>
        <p:txBody>
          <a:bodyPr wrap="square" lIns="0" tIns="0" rIns="0" bIns="0" rtlCol="0" anchor="t">
            <a:noAutofit/>
          </a:bodyPr>
          <a:lstStyle/>
          <a:p>
            <a:pPr marL="0" indent="0" algn="just">
              <a:lnSpc>
                <a:spcPct val="121000"/>
              </a:lnSpc>
              <a:buNone/>
            </a:pPr>
            <a:r>
              <a:rPr lang="en-US" sz="1000" dirty="0">
                <a:solidFill>
                  <a:srgbClr val="E5DCE6"/>
                </a:solidFill>
                <a:latin typeface="Montserrat" pitchFamily="34" charset="0"/>
                <a:ea typeface="Montserrat" pitchFamily="34" charset="-122"/>
                <a:cs typeface="Montserrat" pitchFamily="34" charset="-120"/>
              </a:rPr>
              <a:t>The overall no-show rate is 8.3%. Demographic variables such as age, gender, city, and neighborhood show only minor differences in no-show rates, whereas operational, behavioral, and socioeconomic factors exhibit much stronger associations with patient attendance.</a:t>
            </a:r>
            <a:endParaRPr lang="en-US" sz="1000" dirty="0"/>
          </a:p>
        </p:txBody>
      </p:sp>
      <p:pic>
        <p:nvPicPr>
          <p:cNvPr id="1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17256" y="2375951"/>
            <a:ext cx="3935388" cy="2255565"/>
          </a:xfrm>
          <a:prstGeom prst="rect">
            <a:avLst/>
          </a:prstGeom>
        </p:spPr>
      </p:pic>
      <p:sp>
        <p:nvSpPr>
          <p:cNvPr id="15" name="Text 12"/>
          <p:cNvSpPr/>
          <p:nvPr/>
        </p:nvSpPr>
        <p:spPr>
          <a:xfrm>
            <a:off x="4903812" y="2505357"/>
            <a:ext cx="1439763" cy="179933"/>
          </a:xfrm>
          <a:prstGeom prst="rect">
            <a:avLst/>
          </a:prstGeom>
          <a:noFill/>
          <a:ln/>
        </p:spPr>
        <p:txBody>
          <a:bodyPr wrap="none" lIns="0" tIns="0" rIns="0" bIns="0" rtlCol="0" anchor="t"/>
          <a:lstStyle/>
          <a:p>
            <a:pPr marL="0" indent="0" algn="l">
              <a:lnSpc>
                <a:spcPct val="104000"/>
              </a:lnSpc>
              <a:buNone/>
            </a:pPr>
            <a:r>
              <a:rPr lang="en-US" sz="1100" dirty="0">
                <a:solidFill>
                  <a:srgbClr val="E5DCE6"/>
                </a:solidFill>
                <a:latin typeface="Bricolage Grotesque ExtraBold" pitchFamily="34" charset="0"/>
                <a:ea typeface="Bricolage Grotesque ExtraBold" pitchFamily="34" charset="-122"/>
                <a:cs typeface="Bricolage Grotesque ExtraBold" pitchFamily="34" charset="-120"/>
              </a:rPr>
              <a:t>Dataset Summary</a:t>
            </a:r>
            <a:endParaRPr lang="en-US" sz="1100" dirty="0"/>
          </a:p>
        </p:txBody>
      </p:sp>
      <p:sp>
        <p:nvSpPr>
          <p:cNvPr id="16" name="Text 13"/>
          <p:cNvSpPr/>
          <p:nvPr/>
        </p:nvSpPr>
        <p:spPr>
          <a:xfrm>
            <a:off x="4903812" y="2778829"/>
            <a:ext cx="3619426" cy="1505545"/>
          </a:xfrm>
          <a:prstGeom prst="rect">
            <a:avLst/>
          </a:prstGeom>
          <a:noFill/>
          <a:ln/>
        </p:spPr>
        <p:txBody>
          <a:bodyPr wrap="square" lIns="0" tIns="0" rIns="0" bIns="0" rtlCol="0" anchor="t"/>
          <a:lstStyle/>
          <a:p>
            <a:pPr marL="0" indent="0" algn="l">
              <a:lnSpc>
                <a:spcPct val="121000"/>
              </a:lnSpc>
              <a:buNone/>
            </a:pPr>
            <a:r>
              <a:rPr lang="en-US" sz="900" b="1" dirty="0">
                <a:solidFill>
                  <a:srgbClr val="E5DCE6"/>
                </a:solidFill>
                <a:latin typeface="Montserrat Bold" pitchFamily="34" charset="0"/>
                <a:ea typeface="Montserrat Bold" pitchFamily="34" charset="-122"/>
                <a:cs typeface="Montserrat Bold" pitchFamily="34" charset="-120"/>
              </a:rPr>
              <a:t>Total Appointments:</a:t>
            </a:r>
            <a:r>
              <a:rPr lang="en-US" sz="900" dirty="0">
                <a:solidFill>
                  <a:srgbClr val="E5DCE6"/>
                </a:solidFill>
                <a:latin typeface="Montserrat" pitchFamily="34" charset="0"/>
                <a:ea typeface="Montserrat" pitchFamily="34" charset="-122"/>
                <a:cs typeface="Montserrat" pitchFamily="34" charset="-120"/>
              </a:rPr>
              <a:t> 50,000 Rows</a:t>
            </a:r>
            <a:endParaRPr lang="en-US" sz="900" dirty="0"/>
          </a:p>
          <a:p>
            <a:pPr marL="0" indent="0" algn="l">
              <a:lnSpc>
                <a:spcPct val="121000"/>
              </a:lnSpc>
              <a:buNone/>
            </a:pPr>
            <a:r>
              <a:rPr lang="en-US" sz="900" b="1" dirty="0">
                <a:solidFill>
                  <a:srgbClr val="E5DCE6"/>
                </a:solidFill>
                <a:latin typeface="Montserrat Bold" pitchFamily="34" charset="0"/>
                <a:ea typeface="Montserrat Bold" pitchFamily="34" charset="-122"/>
                <a:cs typeface="Montserrat Bold" pitchFamily="34" charset="-120"/>
              </a:rPr>
              <a:t>Overall Attendance:</a:t>
            </a:r>
            <a:endParaRPr lang="en-US" sz="900" dirty="0"/>
          </a:p>
          <a:p>
            <a:pPr marL="0" indent="0" algn="l">
              <a:lnSpc>
                <a:spcPct val="121000"/>
              </a:lnSpc>
              <a:buNone/>
            </a:pPr>
            <a:r>
              <a:rPr lang="en-US" sz="900" dirty="0">
                <a:solidFill>
                  <a:srgbClr val="E5DCE6"/>
                </a:solidFill>
                <a:latin typeface="Montserrat" pitchFamily="34" charset="0"/>
                <a:ea typeface="Montserrat" pitchFamily="34" charset="-122"/>
                <a:cs typeface="Montserrat" pitchFamily="34" charset="-120"/>
              </a:rPr>
              <a:t>Show: 91.7%</a:t>
            </a:r>
            <a:endParaRPr lang="en-US" sz="900" dirty="0"/>
          </a:p>
          <a:p>
            <a:pPr marL="0" indent="0" algn="l">
              <a:lnSpc>
                <a:spcPct val="121000"/>
              </a:lnSpc>
              <a:spcAft>
                <a:spcPts val="650"/>
              </a:spcAft>
              <a:buNone/>
            </a:pPr>
            <a:r>
              <a:rPr lang="en-US" sz="900" dirty="0">
                <a:solidFill>
                  <a:srgbClr val="E5DCE6"/>
                </a:solidFill>
                <a:latin typeface="Montserrat" pitchFamily="34" charset="0"/>
                <a:ea typeface="Montserrat" pitchFamily="34" charset="-122"/>
                <a:cs typeface="Montserrat" pitchFamily="34" charset="-120"/>
              </a:rPr>
              <a:t>No-Show: 8.3%</a:t>
            </a:r>
            <a:endParaRPr lang="en-US" sz="900" dirty="0"/>
          </a:p>
          <a:p>
            <a:pPr marL="0" indent="0" algn="l">
              <a:lnSpc>
                <a:spcPct val="121000"/>
              </a:lnSpc>
              <a:buNone/>
            </a:pPr>
            <a:r>
              <a:rPr lang="en-US" sz="900" b="1" dirty="0">
                <a:solidFill>
                  <a:srgbClr val="E5DCE6"/>
                </a:solidFill>
                <a:latin typeface="Montserrat Bold" pitchFamily="34" charset="0"/>
                <a:ea typeface="Montserrat Bold" pitchFamily="34" charset="-122"/>
                <a:cs typeface="Montserrat Bold" pitchFamily="34" charset="-120"/>
              </a:rPr>
              <a:t>Variables Analyzed:</a:t>
            </a:r>
            <a:r>
              <a:rPr lang="en-US" sz="900" dirty="0">
                <a:solidFill>
                  <a:srgbClr val="E5DCE6"/>
                </a:solidFill>
                <a:latin typeface="Montserrat" pitchFamily="34" charset="0"/>
                <a:ea typeface="Montserrat" pitchFamily="34" charset="-122"/>
                <a:cs typeface="Montserrat" pitchFamily="34" charset="-120"/>
              </a:rPr>
              <a:t> 27 Columns</a:t>
            </a:r>
            <a:endParaRPr lang="en-US" sz="900" dirty="0"/>
          </a:p>
          <a:p>
            <a:pPr marL="0" indent="0" algn="l">
              <a:lnSpc>
                <a:spcPct val="121000"/>
              </a:lnSpc>
              <a:buNone/>
            </a:pPr>
            <a:r>
              <a:rPr lang="en-US" sz="900" b="1" dirty="0">
                <a:solidFill>
                  <a:srgbClr val="E5DCE6"/>
                </a:solidFill>
                <a:latin typeface="Montserrat Bold" pitchFamily="34" charset="0"/>
                <a:ea typeface="Montserrat Bold" pitchFamily="34" charset="-122"/>
                <a:cs typeface="Montserrat Bold" pitchFamily="34" charset="-120"/>
              </a:rPr>
              <a:t>Strong / Very Strong Indicators:</a:t>
            </a:r>
            <a:r>
              <a:rPr lang="en-US" sz="900" dirty="0">
                <a:solidFill>
                  <a:srgbClr val="E5DCE6"/>
                </a:solidFill>
                <a:latin typeface="Montserrat" pitchFamily="34" charset="0"/>
                <a:ea typeface="Montserrat" pitchFamily="34" charset="-122"/>
                <a:cs typeface="Montserrat" pitchFamily="34" charset="-120"/>
              </a:rPr>
              <a:t> 8</a:t>
            </a:r>
            <a:endParaRPr lang="en-US" sz="900" dirty="0"/>
          </a:p>
          <a:p>
            <a:pPr marL="0" indent="0" algn="l">
              <a:lnSpc>
                <a:spcPct val="121000"/>
              </a:lnSpc>
              <a:buNone/>
            </a:pPr>
            <a:r>
              <a:rPr lang="en-US" sz="900" b="1" dirty="0">
                <a:solidFill>
                  <a:srgbClr val="E5DCE6"/>
                </a:solidFill>
                <a:latin typeface="Montserrat Bold" pitchFamily="34" charset="0"/>
                <a:ea typeface="Montserrat Bold" pitchFamily="34" charset="-122"/>
                <a:cs typeface="Montserrat Bold" pitchFamily="34" charset="-120"/>
              </a:rPr>
              <a:t>Weak / Very Weak Indicators:</a:t>
            </a:r>
            <a:r>
              <a:rPr lang="en-US" sz="900" dirty="0">
                <a:solidFill>
                  <a:srgbClr val="E5DCE6"/>
                </a:solidFill>
                <a:latin typeface="Montserrat" pitchFamily="34" charset="0"/>
                <a:ea typeface="Montserrat" pitchFamily="34" charset="-122"/>
                <a:cs typeface="Montserrat" pitchFamily="34" charset="-120"/>
              </a:rPr>
              <a:t> 11</a:t>
            </a:r>
            <a:endParaRPr lang="en-US" sz="900" dirty="0"/>
          </a:p>
        </p:txBody>
      </p:sp>
      <p:sp>
        <p:nvSpPr>
          <p:cNvPr id="17" name="Text 14"/>
          <p:cNvSpPr/>
          <p:nvPr/>
        </p:nvSpPr>
        <p:spPr>
          <a:xfrm>
            <a:off x="4903812" y="4368536"/>
            <a:ext cx="3619426" cy="133573"/>
          </a:xfrm>
          <a:prstGeom prst="rect">
            <a:avLst/>
          </a:prstGeom>
          <a:noFill/>
          <a:ln/>
        </p:spPr>
        <p:txBody>
          <a:bodyPr wrap="none" lIns="0" tIns="0" rIns="0" bIns="0" rtlCol="0" anchor="t"/>
          <a:lstStyle/>
          <a:p>
            <a:pPr marL="0" indent="0" algn="l">
              <a:lnSpc>
                <a:spcPct val="121000"/>
              </a:lnSpc>
              <a:buNone/>
            </a:pPr>
            <a:r>
              <a:rPr lang="en-US" sz="700" dirty="0">
                <a:solidFill>
                  <a:srgbClr val="E5DCE6"/>
                </a:solidFill>
                <a:latin typeface="Montserrat" pitchFamily="34" charset="0"/>
                <a:ea typeface="Montserrat" pitchFamily="34" charset="-122"/>
                <a:cs typeface="Montserrat" pitchFamily="34" charset="-120"/>
              </a:rPr>
              <a:t>Executive overview of the analyzed dataset.</a:t>
            </a:r>
            <a:endParaRPr lang="en-US" sz="700" dirty="0"/>
          </a:p>
        </p:txBody>
      </p:sp>
      <p:sp>
        <p:nvSpPr>
          <p:cNvPr id="18" name="Rectangle 17">
            <a:extLst>
              <a:ext uri="{FF2B5EF4-FFF2-40B4-BE49-F238E27FC236}">
                <a16:creationId xmlns:a16="http://schemas.microsoft.com/office/drawing/2014/main" id="{B258A5CB-B34F-DA25-9C2B-6385E3139B86}"/>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04440"/>
            <a:ext cx="4248894" cy="318343"/>
          </a:xfrm>
          <a:prstGeom prst="rect">
            <a:avLst/>
          </a:prstGeom>
          <a:noFill/>
          <a:ln/>
        </p:spPr>
        <p:txBody>
          <a:bodyPr wrap="none" lIns="0" tIns="0" rIns="0" bIns="0" rtlCol="0" anchor="t"/>
          <a:lstStyle/>
          <a:p>
            <a:pPr marL="0" indent="0" algn="l">
              <a:lnSpc>
                <a:spcPct val="104000"/>
              </a:lnSpc>
              <a:buNone/>
            </a:pPr>
            <a:r>
              <a:rPr lang="en-US" sz="2000" dirty="0">
                <a:solidFill>
                  <a:srgbClr val="EEAEF6"/>
                </a:solidFill>
                <a:latin typeface="Bricolage Grotesque ExtraBold" pitchFamily="34" charset="0"/>
                <a:ea typeface="Bricolage Grotesque ExtraBold" pitchFamily="34" charset="-122"/>
                <a:cs typeface="Bricolage Grotesque ExtraBold" pitchFamily="34" charset="-120"/>
              </a:rPr>
              <a:t>Patient Demographic Analysis</a:t>
            </a:r>
            <a:endParaRPr lang="en-US" sz="2000" dirty="0"/>
          </a:p>
        </p:txBody>
      </p:sp>
      <p:sp>
        <p:nvSpPr>
          <p:cNvPr id="3" name="Text 1"/>
          <p:cNvSpPr/>
          <p:nvPr/>
        </p:nvSpPr>
        <p:spPr>
          <a:xfrm>
            <a:off x="496119" y="806589"/>
            <a:ext cx="2217241" cy="159246"/>
          </a:xfrm>
          <a:prstGeom prst="rect">
            <a:avLst/>
          </a:prstGeom>
          <a:noFill/>
          <a:ln/>
        </p:spPr>
        <p:txBody>
          <a:bodyPr wrap="none" lIns="0" tIns="0" rIns="0" bIns="0" rtlCol="0" anchor="t"/>
          <a:lstStyle/>
          <a:p>
            <a:pPr marL="0" indent="0" algn="l">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Age Group vs No-Show Rate</a:t>
            </a:r>
            <a:endParaRPr lang="en-US" sz="1000" dirty="0"/>
          </a:p>
        </p:txBody>
      </p:sp>
      <p:pic>
        <p:nvPicPr>
          <p:cNvPr id="4" name="Image 0" descr="preencoded.png"/>
          <p:cNvPicPr>
            <a:picLocks noChangeAspect="1"/>
          </p:cNvPicPr>
          <p:nvPr/>
        </p:nvPicPr>
        <p:blipFill>
          <a:blip r:embed="rId3"/>
          <a:stretch>
            <a:fillRect/>
          </a:stretch>
        </p:blipFill>
        <p:spPr>
          <a:xfrm>
            <a:off x="496119" y="1048211"/>
            <a:ext cx="2971828" cy="1646546"/>
          </a:xfrm>
          <a:prstGeom prst="rect">
            <a:avLst/>
          </a:prstGeom>
        </p:spPr>
      </p:pic>
      <p:sp>
        <p:nvSpPr>
          <p:cNvPr id="5" name="Text 2"/>
          <p:cNvSpPr/>
          <p:nvPr/>
        </p:nvSpPr>
        <p:spPr>
          <a:xfrm>
            <a:off x="496119" y="2777133"/>
            <a:ext cx="2404765" cy="159246"/>
          </a:xfrm>
          <a:prstGeom prst="rect">
            <a:avLst/>
          </a:prstGeom>
          <a:noFill/>
          <a:ln/>
        </p:spPr>
        <p:txBody>
          <a:bodyPr wrap="none" lIns="0" tIns="0" rIns="0" bIns="0" rtlCol="0" anchor="t"/>
          <a:lstStyle/>
          <a:p>
            <a:pPr marL="0" indent="0" algn="l">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 Income Level vs No-Show Rate</a:t>
            </a:r>
            <a:endParaRPr lang="en-US" sz="1000" dirty="0"/>
          </a:p>
        </p:txBody>
      </p:sp>
      <p:pic>
        <p:nvPicPr>
          <p:cNvPr id="6" name="Image 1" descr="preencoded.png"/>
          <p:cNvPicPr>
            <a:picLocks noChangeAspect="1"/>
          </p:cNvPicPr>
          <p:nvPr/>
        </p:nvPicPr>
        <p:blipFill>
          <a:blip r:embed="rId4"/>
          <a:stretch>
            <a:fillRect/>
          </a:stretch>
        </p:blipFill>
        <p:spPr>
          <a:xfrm>
            <a:off x="496119" y="3018754"/>
            <a:ext cx="3053108" cy="1855811"/>
          </a:xfrm>
          <a:prstGeom prst="rect">
            <a:avLst/>
          </a:prstGeom>
        </p:spPr>
      </p:pic>
      <p:sp>
        <p:nvSpPr>
          <p:cNvPr id="7" name="Text 3"/>
          <p:cNvSpPr/>
          <p:nvPr/>
        </p:nvSpPr>
        <p:spPr>
          <a:xfrm>
            <a:off x="4701034" y="905842"/>
            <a:ext cx="2021012" cy="159246"/>
          </a:xfrm>
          <a:prstGeom prst="rect">
            <a:avLst/>
          </a:prstGeom>
          <a:noFill/>
          <a:ln/>
        </p:spPr>
        <p:txBody>
          <a:bodyPr wrap="none" lIns="0" tIns="0" rIns="0" bIns="0" rtlCol="0" anchor="t"/>
          <a:lstStyle/>
          <a:p>
            <a:pPr marL="0" indent="0" algn="l">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Gender vs No-Show Rate</a:t>
            </a:r>
            <a:endParaRPr lang="en-US" sz="1000" dirty="0"/>
          </a:p>
        </p:txBody>
      </p:sp>
      <p:pic>
        <p:nvPicPr>
          <p:cNvPr id="8" name="Image 2" descr="preencoded.png"/>
          <p:cNvPicPr>
            <a:picLocks noChangeAspect="1"/>
          </p:cNvPicPr>
          <p:nvPr/>
        </p:nvPicPr>
        <p:blipFill>
          <a:blip r:embed="rId5"/>
          <a:stretch>
            <a:fillRect/>
          </a:stretch>
        </p:blipFill>
        <p:spPr>
          <a:xfrm>
            <a:off x="4163334" y="1147465"/>
            <a:ext cx="3700506" cy="1965166"/>
          </a:xfrm>
          <a:prstGeom prst="rect">
            <a:avLst/>
          </a:prstGeom>
        </p:spPr>
      </p:pic>
      <p:sp>
        <p:nvSpPr>
          <p:cNvPr id="9" name="Text 4"/>
          <p:cNvSpPr/>
          <p:nvPr/>
        </p:nvSpPr>
        <p:spPr>
          <a:xfrm>
            <a:off x="4701034" y="2648769"/>
            <a:ext cx="4408810" cy="140047"/>
          </a:xfrm>
          <a:prstGeom prst="rect">
            <a:avLst/>
          </a:prstGeom>
          <a:noFill/>
          <a:ln/>
        </p:spPr>
        <p:txBody>
          <a:bodyPr wrap="none" lIns="0" tIns="0" rIns="0" bIns="0" rtlCol="0" anchor="t"/>
          <a:lstStyle/>
          <a:p>
            <a:pPr marL="0" indent="0" algn="l">
              <a:lnSpc>
                <a:spcPct val="115000"/>
              </a:lnSpc>
              <a:buNone/>
            </a:pPr>
            <a:endParaRPr lang="en-US" sz="800" dirty="0"/>
          </a:p>
        </p:txBody>
      </p:sp>
      <p:sp>
        <p:nvSpPr>
          <p:cNvPr id="10" name="Text 5"/>
          <p:cNvSpPr/>
          <p:nvPr/>
        </p:nvSpPr>
        <p:spPr>
          <a:xfrm>
            <a:off x="4572000" y="3212490"/>
            <a:ext cx="1730871" cy="159246"/>
          </a:xfrm>
          <a:prstGeom prst="rect">
            <a:avLst/>
          </a:prstGeom>
          <a:noFill/>
          <a:ln/>
        </p:spPr>
        <p:txBody>
          <a:bodyPr wrap="none" lIns="0" tIns="0" rIns="0" bIns="0" rtlCol="0" anchor="t"/>
          <a:lstStyle/>
          <a:p>
            <a:pPr marL="0" indent="0" algn="l">
              <a:lnSpc>
                <a:spcPct val="104000"/>
              </a:lnSpc>
              <a:buNone/>
            </a:pPr>
            <a:r>
              <a:rPr lang="en-US" sz="1000" dirty="0">
                <a:solidFill>
                  <a:srgbClr val="EEAEF6"/>
                </a:solidFill>
                <a:latin typeface="Bricolage Grotesque ExtraBold" pitchFamily="34" charset="0"/>
                <a:ea typeface="Bricolage Grotesque ExtraBold" pitchFamily="34" charset="-122"/>
                <a:cs typeface="Bricolage Grotesque ExtraBold" pitchFamily="34" charset="-120"/>
              </a:rPr>
              <a:t>Key Findings</a:t>
            </a:r>
            <a:endParaRPr lang="en-US" sz="1000" dirty="0"/>
          </a:p>
        </p:txBody>
      </p:sp>
      <p:sp>
        <p:nvSpPr>
          <p:cNvPr id="11" name="Text 6"/>
          <p:cNvSpPr/>
          <p:nvPr/>
        </p:nvSpPr>
        <p:spPr>
          <a:xfrm>
            <a:off x="4572000" y="3534660"/>
            <a:ext cx="3951610" cy="471339"/>
          </a:xfrm>
          <a:prstGeom prst="rect">
            <a:avLst/>
          </a:prstGeom>
          <a:noFill/>
          <a:ln/>
        </p:spPr>
        <p:txBody>
          <a:bodyPr wrap="square" lIns="0" tIns="0" rIns="0" bIns="0" rtlCol="0" anchor="t">
            <a:normAutofit/>
          </a:bodyPr>
          <a:lstStyle/>
          <a:p>
            <a:pPr marL="162560" indent="-162560" algn="l">
              <a:lnSpc>
                <a:spcPct val="115000"/>
              </a:lnSpc>
              <a:buSzPct val="100000"/>
              <a:buChar char="•"/>
            </a:pPr>
            <a:r>
              <a:rPr lang="en-US" sz="900" dirty="0">
                <a:solidFill>
                  <a:srgbClr val="E5DCE6"/>
                </a:solidFill>
                <a:latin typeface="Montserrat" pitchFamily="34" charset="0"/>
                <a:ea typeface="Montserrat" pitchFamily="34" charset="-122"/>
                <a:cs typeface="Montserrat" pitchFamily="34" charset="-120"/>
              </a:rPr>
              <a:t>Age: Very Weak (8.04%-8.52%)</a:t>
            </a:r>
            <a:endParaRPr lang="en-US" sz="900" dirty="0"/>
          </a:p>
          <a:p>
            <a:pPr marL="162560" indent="-162560" algn="l">
              <a:lnSpc>
                <a:spcPct val="115000"/>
              </a:lnSpc>
              <a:buSzPct val="100000"/>
              <a:buChar char="•"/>
            </a:pPr>
            <a:r>
              <a:rPr lang="en-US" sz="900" dirty="0">
                <a:solidFill>
                  <a:srgbClr val="E5DCE6"/>
                </a:solidFill>
                <a:latin typeface="Montserrat" pitchFamily="34" charset="0"/>
                <a:ea typeface="Montserrat" pitchFamily="34" charset="-122"/>
                <a:cs typeface="Montserrat" pitchFamily="34" charset="-120"/>
              </a:rPr>
              <a:t>Gender: Very Weak (8.08%-8.74%)</a:t>
            </a:r>
            <a:endParaRPr lang="en-US" sz="900" dirty="0"/>
          </a:p>
          <a:p>
            <a:pPr marL="162560" indent="-162560" algn="l">
              <a:lnSpc>
                <a:spcPct val="115000"/>
              </a:lnSpc>
              <a:buSzPct val="100000"/>
              <a:buChar char="•"/>
            </a:pPr>
            <a:r>
              <a:rPr lang="en-US" sz="900" dirty="0">
                <a:solidFill>
                  <a:srgbClr val="E5DCE6"/>
                </a:solidFill>
                <a:latin typeface="Montserrat" pitchFamily="34" charset="0"/>
                <a:ea typeface="Montserrat" pitchFamily="34" charset="-122"/>
                <a:cs typeface="Montserrat" pitchFamily="34" charset="-120"/>
              </a:rPr>
              <a:t>Income: Strong (7.17%-10.65%)</a:t>
            </a:r>
            <a:endParaRPr lang="en-US" sz="900" dirty="0"/>
          </a:p>
        </p:txBody>
      </p:sp>
      <p:sp>
        <p:nvSpPr>
          <p:cNvPr id="12" name="Text 7"/>
          <p:cNvSpPr/>
          <p:nvPr/>
        </p:nvSpPr>
        <p:spPr>
          <a:xfrm>
            <a:off x="4572000" y="4159811"/>
            <a:ext cx="3951610" cy="280095"/>
          </a:xfrm>
          <a:prstGeom prst="rect">
            <a:avLst/>
          </a:prstGeom>
          <a:noFill/>
          <a:ln/>
        </p:spPr>
        <p:txBody>
          <a:bodyPr wrap="square" lIns="0" tIns="0" rIns="0" bIns="0" rtlCol="0" anchor="t">
            <a:noAutofit/>
          </a:bodyPr>
          <a:lstStyle/>
          <a:p>
            <a:pPr marL="0" indent="0" algn="l">
              <a:lnSpc>
                <a:spcPct val="115000"/>
              </a:lnSpc>
              <a:buNone/>
            </a:pPr>
            <a:r>
              <a:rPr lang="en-US" sz="1050" dirty="0">
                <a:solidFill>
                  <a:srgbClr val="E5DCE6"/>
                </a:solidFill>
                <a:latin typeface="Montserrat" pitchFamily="34" charset="0"/>
                <a:ea typeface="Montserrat" pitchFamily="34" charset="-122"/>
                <a:cs typeface="Montserrat" pitchFamily="34" charset="-120"/>
              </a:rPr>
              <a:t>Income level shows the strongest demographic relationship with no-show behavior.</a:t>
            </a:r>
            <a:endParaRPr lang="en-US" sz="1050" dirty="0"/>
          </a:p>
        </p:txBody>
      </p:sp>
      <p:sp>
        <p:nvSpPr>
          <p:cNvPr id="13" name="Rectangle 12">
            <a:extLst>
              <a:ext uri="{FF2B5EF4-FFF2-40B4-BE49-F238E27FC236}">
                <a16:creationId xmlns:a16="http://schemas.microsoft.com/office/drawing/2014/main" id="{A9A2336D-B736-5160-27A1-788EF4DD7FEE}"/>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434206"/>
            <a:ext cx="6845424" cy="346100"/>
          </a:xfrm>
          <a:prstGeom prst="rect">
            <a:avLst/>
          </a:prstGeom>
          <a:noFill/>
          <a:ln/>
        </p:spPr>
        <p:txBody>
          <a:bodyPr wrap="none" lIns="0" tIns="0" rIns="0" bIns="0" rtlCol="0" anchor="t"/>
          <a:lstStyle/>
          <a:p>
            <a:pPr marL="0" indent="0" algn="l">
              <a:lnSpc>
                <a:spcPct val="104000"/>
              </a:lnSpc>
              <a:buNone/>
            </a:pPr>
            <a:r>
              <a:rPr lang="en-US" sz="2150" dirty="0">
                <a:solidFill>
                  <a:srgbClr val="EEAEF6"/>
                </a:solidFill>
                <a:latin typeface="Bricolage Grotesque ExtraBold" pitchFamily="34" charset="0"/>
                <a:ea typeface="Bricolage Grotesque ExtraBold" pitchFamily="34" charset="-122"/>
                <a:cs typeface="Bricolage Grotesque ExtraBold" pitchFamily="34" charset="-120"/>
              </a:rPr>
              <a:t>Waiting Time: The Strongest Scheduling Factor</a:t>
            </a:r>
            <a:endParaRPr lang="en-US" sz="2150" dirty="0"/>
          </a:p>
        </p:txBody>
      </p:sp>
      <p:pic>
        <p:nvPicPr>
          <p:cNvPr id="3" name="Image 0" descr="preencoded.png"/>
          <p:cNvPicPr>
            <a:picLocks noChangeAspect="1"/>
          </p:cNvPicPr>
          <p:nvPr/>
        </p:nvPicPr>
        <p:blipFill>
          <a:blip r:embed="rId3"/>
          <a:stretch>
            <a:fillRect/>
          </a:stretch>
        </p:blipFill>
        <p:spPr>
          <a:xfrm>
            <a:off x="496118" y="932910"/>
            <a:ext cx="3375111" cy="1939297"/>
          </a:xfrm>
          <a:prstGeom prst="rect">
            <a:avLst/>
          </a:prstGeom>
        </p:spPr>
      </p:pic>
      <p:pic>
        <p:nvPicPr>
          <p:cNvPr id="4" name="Image 1" descr="preencoded.png"/>
          <p:cNvPicPr>
            <a:picLocks noChangeAspect="1"/>
          </p:cNvPicPr>
          <p:nvPr/>
        </p:nvPicPr>
        <p:blipFill>
          <a:blip r:embed="rId4"/>
          <a:stretch>
            <a:fillRect/>
          </a:stretch>
        </p:blipFill>
        <p:spPr>
          <a:xfrm>
            <a:off x="496118" y="2977813"/>
            <a:ext cx="3375112" cy="1939298"/>
          </a:xfrm>
          <a:prstGeom prst="rect">
            <a:avLst/>
          </a:prstGeom>
        </p:spPr>
      </p:pic>
      <p:sp>
        <p:nvSpPr>
          <p:cNvPr id="5" name="Text 1"/>
          <p:cNvSpPr/>
          <p:nvPr/>
        </p:nvSpPr>
        <p:spPr>
          <a:xfrm>
            <a:off x="4711824" y="996553"/>
            <a:ext cx="2240533" cy="173013"/>
          </a:xfrm>
          <a:prstGeom prst="rect">
            <a:avLst/>
          </a:prstGeom>
          <a:noFill/>
          <a:ln/>
        </p:spPr>
        <p:txBody>
          <a:bodyPr wrap="none" lIns="0" tIns="0" rIns="0" bIns="0" rtlCol="0" anchor="t"/>
          <a:lstStyle/>
          <a:p>
            <a:pPr marL="0" indent="0" algn="l">
              <a:lnSpc>
                <a:spcPct val="104000"/>
              </a:lnSpc>
              <a:buNone/>
            </a:pPr>
            <a:r>
              <a:rPr lang="en-US" sz="1050" dirty="0">
                <a:solidFill>
                  <a:srgbClr val="EEAEF6"/>
                </a:solidFill>
                <a:latin typeface="Bricolage Grotesque ExtraBold" pitchFamily="34" charset="0"/>
                <a:ea typeface="Bricolage Grotesque ExtraBold" pitchFamily="34" charset="-122"/>
                <a:cs typeface="Bricolage Grotesque ExtraBold" pitchFamily="34" charset="-120"/>
              </a:rPr>
              <a:t>A Clear Escalation Pattern</a:t>
            </a:r>
            <a:endParaRPr lang="en-US" sz="1050" dirty="0"/>
          </a:p>
        </p:txBody>
      </p:sp>
      <p:sp>
        <p:nvSpPr>
          <p:cNvPr id="6" name="Text 2"/>
          <p:cNvSpPr/>
          <p:nvPr/>
        </p:nvSpPr>
        <p:spPr>
          <a:xfrm>
            <a:off x="4711824" y="1256035"/>
            <a:ext cx="3940820" cy="1432978"/>
          </a:xfrm>
          <a:prstGeom prst="rect">
            <a:avLst/>
          </a:prstGeom>
          <a:noFill/>
          <a:ln/>
        </p:spPr>
        <p:txBody>
          <a:bodyPr wrap="square" lIns="0" tIns="0" rIns="0" bIns="0" rtlCol="0" anchor="t">
            <a:noAutofit/>
          </a:bodyPr>
          <a:lstStyle/>
          <a:p>
            <a:pPr marL="0" indent="0" algn="l">
              <a:lnSpc>
                <a:spcPct val="119000"/>
              </a:lnSpc>
              <a:buNone/>
            </a:pPr>
            <a:r>
              <a:rPr lang="en-US" sz="1200" dirty="0">
                <a:solidFill>
                  <a:srgbClr val="E5DCE6"/>
                </a:solidFill>
                <a:latin typeface="Montserrat" pitchFamily="34" charset="0"/>
                <a:ea typeface="Montserrat" pitchFamily="34" charset="-122"/>
                <a:cs typeface="Montserrat" pitchFamily="34" charset="-120"/>
              </a:rPr>
              <a:t>No-show rates climb from </a:t>
            </a:r>
            <a:r>
              <a:rPr lang="en-US" sz="1200" b="1" dirty="0">
                <a:solidFill>
                  <a:srgbClr val="E5DCE6"/>
                </a:solidFill>
                <a:latin typeface="Montserrat Bold" pitchFamily="34" charset="0"/>
                <a:ea typeface="Montserrat Bold" pitchFamily="34" charset="-122"/>
                <a:cs typeface="Montserrat Bold" pitchFamily="34" charset="-120"/>
              </a:rPr>
              <a:t>5.9%</a:t>
            </a:r>
            <a:r>
              <a:rPr lang="en-US" sz="1200" dirty="0">
                <a:solidFill>
                  <a:srgbClr val="E5DCE6"/>
                </a:solidFill>
                <a:latin typeface="Montserrat" pitchFamily="34" charset="0"/>
                <a:ea typeface="Montserrat" pitchFamily="34" charset="-122"/>
                <a:cs typeface="Montserrat" pitchFamily="34" charset="-120"/>
              </a:rPr>
              <a:t> for same-week appointments to </a:t>
            </a:r>
            <a:r>
              <a:rPr lang="en-US" sz="1200" b="1" dirty="0">
                <a:solidFill>
                  <a:srgbClr val="E5DCE6"/>
                </a:solidFill>
                <a:latin typeface="Montserrat Bold" pitchFamily="34" charset="0"/>
                <a:ea typeface="Montserrat Bold" pitchFamily="34" charset="-122"/>
                <a:cs typeface="Montserrat Bold" pitchFamily="34" charset="-120"/>
              </a:rPr>
              <a:t>30%</a:t>
            </a:r>
            <a:r>
              <a:rPr lang="en-US" sz="1200" dirty="0">
                <a:solidFill>
                  <a:srgbClr val="E5DCE6"/>
                </a:solidFill>
                <a:latin typeface="Montserrat" pitchFamily="34" charset="0"/>
                <a:ea typeface="Montserrat" pitchFamily="34" charset="-122"/>
                <a:cs typeface="Montserrat" pitchFamily="34" charset="-120"/>
              </a:rPr>
              <a:t> for bookings made over 60 days in advance — a </a:t>
            </a:r>
            <a:r>
              <a:rPr lang="en-US" sz="1200" b="1" dirty="0">
                <a:solidFill>
                  <a:srgbClr val="EEAEF6"/>
                </a:solidFill>
                <a:latin typeface="Montserrat Bold" pitchFamily="34" charset="0"/>
                <a:ea typeface="Montserrat Bold" pitchFamily="34" charset="-122"/>
                <a:cs typeface="Montserrat Bold" pitchFamily="34" charset="-120"/>
              </a:rPr>
              <a:t>5× increase</a:t>
            </a:r>
            <a:r>
              <a:rPr lang="en-US" sz="1200" dirty="0">
                <a:solidFill>
                  <a:srgbClr val="E5DCE6"/>
                </a:solidFill>
                <a:latin typeface="Montserrat" pitchFamily="34" charset="0"/>
                <a:ea typeface="Montserrat" pitchFamily="34" charset="-122"/>
                <a:cs typeface="Montserrat" pitchFamily="34" charset="-120"/>
              </a:rPr>
              <a:t>.</a:t>
            </a:r>
            <a:endParaRPr lang="en-US" sz="1200" dirty="0"/>
          </a:p>
          <a:p>
            <a:pPr marL="0" indent="0" algn="l">
              <a:lnSpc>
                <a:spcPct val="119000"/>
              </a:lnSpc>
              <a:buNone/>
            </a:pPr>
            <a:endParaRPr lang="en-US" sz="1200" dirty="0">
              <a:solidFill>
                <a:srgbClr val="E5DCE6"/>
              </a:solidFill>
              <a:latin typeface="Montserrat" pitchFamily="34" charset="0"/>
              <a:ea typeface="Montserrat" pitchFamily="34" charset="-122"/>
              <a:cs typeface="Montserrat" pitchFamily="34" charset="-120"/>
            </a:endParaRPr>
          </a:p>
          <a:p>
            <a:pPr marL="0" indent="0" algn="l">
              <a:lnSpc>
                <a:spcPct val="119000"/>
              </a:lnSpc>
              <a:buNone/>
            </a:pPr>
            <a:r>
              <a:rPr lang="en-US" sz="1200" dirty="0">
                <a:solidFill>
                  <a:srgbClr val="E5DCE6"/>
                </a:solidFill>
                <a:latin typeface="Montserrat" pitchFamily="34" charset="0"/>
                <a:ea typeface="Montserrat" pitchFamily="34" charset="-122"/>
                <a:cs typeface="Montserrat" pitchFamily="34" charset="-120"/>
              </a:rPr>
              <a:t>Long lead times erode patient commitment. Evening slots (5–9 PM) also show elevated rates at </a:t>
            </a:r>
            <a:r>
              <a:rPr lang="en-US" sz="1200" b="1" dirty="0">
                <a:solidFill>
                  <a:srgbClr val="E5DCE6"/>
                </a:solidFill>
                <a:latin typeface="Montserrat Bold" pitchFamily="34" charset="0"/>
                <a:ea typeface="Montserrat Bold" pitchFamily="34" charset="-122"/>
                <a:cs typeface="Montserrat Bold" pitchFamily="34" charset="-120"/>
              </a:rPr>
              <a:t>10.22%</a:t>
            </a:r>
            <a:r>
              <a:rPr lang="en-US" sz="1200" dirty="0">
                <a:solidFill>
                  <a:srgbClr val="E5DCE6"/>
                </a:solidFill>
                <a:latin typeface="Montserrat" pitchFamily="34" charset="0"/>
                <a:ea typeface="Montserrat" pitchFamily="34" charset="-122"/>
                <a:cs typeface="Montserrat" pitchFamily="34" charset="-120"/>
              </a:rPr>
              <a:t> vs. ~8.2% for morning and afternoon.</a:t>
            </a:r>
            <a:endParaRPr lang="en-US" sz="1200" dirty="0"/>
          </a:p>
        </p:txBody>
      </p:sp>
      <p:sp>
        <p:nvSpPr>
          <p:cNvPr id="7" name="Rectangle 6">
            <a:extLst>
              <a:ext uri="{FF2B5EF4-FFF2-40B4-BE49-F238E27FC236}">
                <a16:creationId xmlns:a16="http://schemas.microsoft.com/office/drawing/2014/main" id="{BCE64BC5-D00B-1544-4553-7D40EEC5664F}"/>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28997"/>
            <a:ext cx="8522419" cy="422300"/>
          </a:xfrm>
          <a:prstGeom prst="rect">
            <a:avLst/>
          </a:prstGeom>
          <a:noFill/>
          <a:ln/>
        </p:spPr>
        <p:txBody>
          <a:bodyPr wrap="none" lIns="0" tIns="0" rIns="0" bIns="0" rtlCol="0" anchor="t"/>
          <a:lstStyle/>
          <a:p>
            <a:pPr marL="0" indent="0" algn="l">
              <a:lnSpc>
                <a:spcPct val="104000"/>
              </a:lnSpc>
              <a:buNone/>
            </a:pPr>
            <a:r>
              <a:rPr lang="en-US" sz="2650" dirty="0">
                <a:solidFill>
                  <a:srgbClr val="EEAEF6"/>
                </a:solidFill>
                <a:latin typeface="Bricolage Grotesque ExtraBold" pitchFamily="34" charset="0"/>
                <a:ea typeface="Bricolage Grotesque ExtraBold" pitchFamily="34" charset="-122"/>
                <a:cs typeface="Bricolage Grotesque ExtraBold" pitchFamily="34" charset="-120"/>
              </a:rPr>
              <a:t>Reminders &amp; Past Behavior: Powerful Predictors</a:t>
            </a:r>
            <a:endParaRPr lang="en-US" sz="2650" dirty="0"/>
          </a:p>
        </p:txBody>
      </p:sp>
      <p:pic>
        <p:nvPicPr>
          <p:cNvPr id="3" name="Image 0" descr="preencoded.png"/>
          <p:cNvPicPr>
            <a:picLocks noChangeAspect="1"/>
          </p:cNvPicPr>
          <p:nvPr/>
        </p:nvPicPr>
        <p:blipFill>
          <a:blip r:embed="rId3"/>
          <a:stretch>
            <a:fillRect/>
          </a:stretch>
        </p:blipFill>
        <p:spPr>
          <a:xfrm>
            <a:off x="291820" y="1001706"/>
            <a:ext cx="4110591" cy="1624355"/>
          </a:xfrm>
          <a:prstGeom prst="rect">
            <a:avLst/>
          </a:prstGeom>
        </p:spPr>
      </p:pic>
      <p:pic>
        <p:nvPicPr>
          <p:cNvPr id="4" name="Image 1" descr="preencoded.png"/>
          <p:cNvPicPr>
            <a:picLocks noChangeAspect="1"/>
          </p:cNvPicPr>
          <p:nvPr/>
        </p:nvPicPr>
        <p:blipFill>
          <a:blip r:embed="rId4"/>
          <a:stretch>
            <a:fillRect/>
          </a:stretch>
        </p:blipFill>
        <p:spPr>
          <a:xfrm>
            <a:off x="291820" y="2805558"/>
            <a:ext cx="4371659" cy="2071241"/>
          </a:xfrm>
          <a:prstGeom prst="rect">
            <a:avLst/>
          </a:prstGeom>
        </p:spPr>
      </p:pic>
      <p:sp>
        <p:nvSpPr>
          <p:cNvPr id="5" name="Text 1"/>
          <p:cNvSpPr/>
          <p:nvPr/>
        </p:nvSpPr>
        <p:spPr>
          <a:xfrm>
            <a:off x="4741590" y="1173212"/>
            <a:ext cx="3337247" cy="211113"/>
          </a:xfrm>
          <a:prstGeom prst="rect">
            <a:avLst/>
          </a:prstGeom>
          <a:noFill/>
          <a:ln/>
        </p:spPr>
        <p:txBody>
          <a:bodyPr wrap="none" lIns="0" tIns="0" rIns="0" bIns="0" rtlCol="0" anchor="t"/>
          <a:lstStyle/>
          <a:p>
            <a:pPr marL="0" indent="0" algn="l">
              <a:lnSpc>
                <a:spcPct val="104000"/>
              </a:lnSpc>
              <a:buNone/>
            </a:pPr>
            <a:r>
              <a:rPr lang="en-US" sz="1300" dirty="0">
                <a:solidFill>
                  <a:srgbClr val="EEAEF6"/>
                </a:solidFill>
                <a:latin typeface="Bricolage Grotesque ExtraBold" pitchFamily="34" charset="0"/>
                <a:ea typeface="Bricolage Grotesque ExtraBold" pitchFamily="34" charset="-122"/>
                <a:cs typeface="Bricolage Grotesque ExtraBold" pitchFamily="34" charset="-120"/>
              </a:rPr>
              <a:t>Communication Is Highly Effective</a:t>
            </a:r>
            <a:endParaRPr lang="en-US" sz="1300" dirty="0"/>
          </a:p>
        </p:txBody>
      </p:sp>
      <p:sp>
        <p:nvSpPr>
          <p:cNvPr id="6" name="Text 2"/>
          <p:cNvSpPr/>
          <p:nvPr/>
        </p:nvSpPr>
        <p:spPr>
          <a:xfrm>
            <a:off x="4741590" y="1513061"/>
            <a:ext cx="3911054" cy="633338"/>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E5DCE6"/>
                </a:solidFill>
                <a:latin typeface="Montserrat" pitchFamily="34" charset="0"/>
                <a:ea typeface="Montserrat" pitchFamily="34" charset="-122"/>
                <a:cs typeface="Montserrat" pitchFamily="34" charset="-120"/>
              </a:rPr>
              <a:t>Each additional reminder call reduces no-shows. SMS reminders cut rates from </a:t>
            </a:r>
            <a:r>
              <a:rPr lang="en-US" sz="1050" b="1" dirty="0">
                <a:solidFill>
                  <a:srgbClr val="E5DCE6"/>
                </a:solidFill>
                <a:latin typeface="Montserrat Bold" pitchFamily="34" charset="0"/>
                <a:ea typeface="Montserrat Bold" pitchFamily="34" charset="-122"/>
                <a:cs typeface="Montserrat Bold" pitchFamily="34" charset="-120"/>
              </a:rPr>
              <a:t>10.94%</a:t>
            </a:r>
            <a:r>
              <a:rPr lang="en-US" sz="1050" dirty="0">
                <a:solidFill>
                  <a:srgbClr val="E5DCE6"/>
                </a:solidFill>
                <a:latin typeface="Montserrat" pitchFamily="34" charset="0"/>
                <a:ea typeface="Montserrat" pitchFamily="34" charset="-122"/>
                <a:cs typeface="Montserrat" pitchFamily="34" charset="-120"/>
              </a:rPr>
              <a:t> (no SMS) to </a:t>
            </a:r>
            <a:r>
              <a:rPr lang="en-US" sz="1050" b="1" dirty="0">
                <a:solidFill>
                  <a:srgbClr val="E5DCE6"/>
                </a:solidFill>
                <a:latin typeface="Montserrat Bold" pitchFamily="34" charset="0"/>
                <a:ea typeface="Montserrat Bold" pitchFamily="34" charset="-122"/>
                <a:cs typeface="Montserrat Bold" pitchFamily="34" charset="-120"/>
              </a:rPr>
              <a:t>7.25%</a:t>
            </a:r>
            <a:r>
              <a:rPr lang="en-US" sz="1050" dirty="0">
                <a:solidFill>
                  <a:srgbClr val="E5DCE6"/>
                </a:solidFill>
                <a:latin typeface="Montserrat" pitchFamily="34" charset="0"/>
                <a:ea typeface="Montserrat" pitchFamily="34" charset="-122"/>
                <a:cs typeface="Montserrat" pitchFamily="34" charset="-120"/>
              </a:rPr>
              <a:t> (SMS sent).</a:t>
            </a:r>
            <a:endParaRPr lang="en-US" sz="1050" dirty="0"/>
          </a:p>
        </p:txBody>
      </p:sp>
      <p:sp>
        <p:nvSpPr>
          <p:cNvPr id="7" name="Text 3"/>
          <p:cNvSpPr/>
          <p:nvPr/>
        </p:nvSpPr>
        <p:spPr>
          <a:xfrm>
            <a:off x="4741590" y="2275136"/>
            <a:ext cx="3260378" cy="211113"/>
          </a:xfrm>
          <a:prstGeom prst="rect">
            <a:avLst/>
          </a:prstGeom>
          <a:noFill/>
          <a:ln/>
        </p:spPr>
        <p:txBody>
          <a:bodyPr wrap="none" lIns="0" tIns="0" rIns="0" bIns="0" rtlCol="0" anchor="t"/>
          <a:lstStyle/>
          <a:p>
            <a:pPr marL="0" indent="0" algn="l">
              <a:lnSpc>
                <a:spcPct val="104000"/>
              </a:lnSpc>
              <a:buNone/>
            </a:pPr>
            <a:r>
              <a:rPr lang="en-US" sz="1300" dirty="0">
                <a:solidFill>
                  <a:srgbClr val="EEAEF6"/>
                </a:solidFill>
                <a:latin typeface="Bricolage Grotesque ExtraBold" pitchFamily="34" charset="0"/>
                <a:ea typeface="Bricolage Grotesque ExtraBold" pitchFamily="34" charset="-122"/>
                <a:cs typeface="Bricolage Grotesque ExtraBold" pitchFamily="34" charset="-120"/>
              </a:rPr>
              <a:t>Past Behavior Predicts the Future</a:t>
            </a:r>
            <a:endParaRPr lang="en-US" sz="1300" dirty="0"/>
          </a:p>
        </p:txBody>
      </p:sp>
      <p:sp>
        <p:nvSpPr>
          <p:cNvPr id="8" name="Text 4"/>
          <p:cNvSpPr/>
          <p:nvPr/>
        </p:nvSpPr>
        <p:spPr>
          <a:xfrm>
            <a:off x="4741590" y="2614985"/>
            <a:ext cx="3911054" cy="633338"/>
          </a:xfrm>
          <a:prstGeom prst="rect">
            <a:avLst/>
          </a:prstGeom>
          <a:noFill/>
          <a:ln/>
        </p:spPr>
        <p:txBody>
          <a:bodyPr wrap="square" lIns="0" tIns="0" rIns="0" bIns="0" rtlCol="0" anchor="t">
            <a:normAutofit/>
          </a:bodyPr>
          <a:lstStyle/>
          <a:p>
            <a:pPr marL="0" indent="0" algn="l">
              <a:lnSpc>
                <a:spcPct val="130000"/>
              </a:lnSpc>
              <a:buNone/>
            </a:pPr>
            <a:r>
              <a:rPr lang="en-US" sz="1050" dirty="0">
                <a:solidFill>
                  <a:srgbClr val="E5DCE6"/>
                </a:solidFill>
                <a:latin typeface="Montserrat" pitchFamily="34" charset="0"/>
                <a:ea typeface="Montserrat" pitchFamily="34" charset="-122"/>
                <a:cs typeface="Montserrat" pitchFamily="34" charset="-120"/>
              </a:rPr>
              <a:t>Patients with no prior no-shows: </a:t>
            </a:r>
            <a:r>
              <a:rPr lang="en-US" sz="1050" b="1" dirty="0">
                <a:solidFill>
                  <a:srgbClr val="E5DCE6"/>
                </a:solidFill>
                <a:latin typeface="Montserrat Bold" pitchFamily="34" charset="0"/>
                <a:ea typeface="Montserrat Bold" pitchFamily="34" charset="-122"/>
                <a:cs typeface="Montserrat Bold" pitchFamily="34" charset="-120"/>
              </a:rPr>
              <a:t>5.92%</a:t>
            </a:r>
            <a:r>
              <a:rPr lang="en-US" sz="1050" dirty="0">
                <a:solidFill>
                  <a:srgbClr val="E5DCE6"/>
                </a:solidFill>
                <a:latin typeface="Montserrat" pitchFamily="34" charset="0"/>
                <a:ea typeface="Montserrat" pitchFamily="34" charset="-122"/>
                <a:cs typeface="Montserrat" pitchFamily="34" charset="-120"/>
              </a:rPr>
              <a:t>. Those with 8+ prior misses: </a:t>
            </a:r>
            <a:r>
              <a:rPr lang="en-US" sz="1050" b="1" dirty="0">
                <a:solidFill>
                  <a:srgbClr val="E5DCE6"/>
                </a:solidFill>
                <a:latin typeface="Montserrat Bold" pitchFamily="34" charset="0"/>
                <a:ea typeface="Montserrat Bold" pitchFamily="34" charset="-122"/>
                <a:cs typeface="Montserrat Bold" pitchFamily="34" charset="-120"/>
              </a:rPr>
              <a:t>31.82%</a:t>
            </a:r>
            <a:r>
              <a:rPr lang="en-US" sz="1050" dirty="0">
                <a:solidFill>
                  <a:srgbClr val="E5DCE6"/>
                </a:solidFill>
                <a:latin typeface="Montserrat" pitchFamily="34" charset="0"/>
                <a:ea typeface="Montserrat" pitchFamily="34" charset="-122"/>
                <a:cs typeface="Montserrat" pitchFamily="34" charset="-120"/>
              </a:rPr>
              <a:t> — a </a:t>
            </a:r>
            <a:r>
              <a:rPr lang="en-US" sz="1050" b="1" dirty="0">
                <a:solidFill>
                  <a:srgbClr val="EEAEF6"/>
                </a:solidFill>
                <a:latin typeface="Montserrat Bold" pitchFamily="34" charset="0"/>
                <a:ea typeface="Montserrat Bold" pitchFamily="34" charset="-122"/>
                <a:cs typeface="Montserrat Bold" pitchFamily="34" charset="-120"/>
              </a:rPr>
              <a:t>very strong</a:t>
            </a:r>
            <a:r>
              <a:rPr lang="en-US" sz="1050" dirty="0">
                <a:solidFill>
                  <a:srgbClr val="E5DCE6"/>
                </a:solidFill>
                <a:latin typeface="Montserrat" pitchFamily="34" charset="0"/>
                <a:ea typeface="Montserrat" pitchFamily="34" charset="-122"/>
                <a:cs typeface="Montserrat" pitchFamily="34" charset="-120"/>
              </a:rPr>
              <a:t> signal for proactive outreach.</a:t>
            </a:r>
            <a:endParaRPr lang="en-US" sz="1050" dirty="0"/>
          </a:p>
        </p:txBody>
      </p:sp>
      <p:sp>
        <p:nvSpPr>
          <p:cNvPr id="9" name="Rectangle 8">
            <a:extLst>
              <a:ext uri="{FF2B5EF4-FFF2-40B4-BE49-F238E27FC236}">
                <a16:creationId xmlns:a16="http://schemas.microsoft.com/office/drawing/2014/main" id="{72665002-D02F-3147-FE94-4363166637C5}"/>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98202"/>
            <a:ext cx="8203853" cy="442987"/>
          </a:xfrm>
          <a:prstGeom prst="rect">
            <a:avLst/>
          </a:prstGeom>
          <a:noFill/>
          <a:ln/>
        </p:spPr>
        <p:txBody>
          <a:bodyPr wrap="none" lIns="0" tIns="0" rIns="0" bIns="0" rtlCol="0" anchor="t"/>
          <a:lstStyle/>
          <a:p>
            <a:pPr marL="0" indent="0" algn="l">
              <a:lnSpc>
                <a:spcPct val="104000"/>
              </a:lnSpc>
              <a:buNone/>
            </a:pPr>
            <a:r>
              <a:rPr lang="en-US" sz="2750" dirty="0">
                <a:solidFill>
                  <a:srgbClr val="EEAEF6"/>
                </a:solidFill>
                <a:latin typeface="Bricolage Grotesque ExtraBold" pitchFamily="34" charset="0"/>
                <a:ea typeface="Bricolage Grotesque ExtraBold" pitchFamily="34" charset="-122"/>
                <a:cs typeface="Bricolage Grotesque ExtraBold" pitchFamily="34" charset="-120"/>
              </a:rPr>
              <a:t>Previous No-Shows: A Very Strong Predictor</a:t>
            </a:r>
            <a:endParaRPr lang="en-US" sz="2750" dirty="0"/>
          </a:p>
        </p:txBody>
      </p:sp>
      <p:sp>
        <p:nvSpPr>
          <p:cNvPr id="3" name="Text 1"/>
          <p:cNvSpPr/>
          <p:nvPr/>
        </p:nvSpPr>
        <p:spPr>
          <a:xfrm>
            <a:off x="496119" y="1295549"/>
            <a:ext cx="3972074" cy="221456"/>
          </a:xfrm>
          <a:prstGeom prst="rect">
            <a:avLst/>
          </a:prstGeom>
          <a:noFill/>
          <a:ln/>
        </p:spPr>
        <p:txBody>
          <a:bodyPr wrap="none" lIns="0" tIns="0" rIns="0" bIns="0" rtlCol="0" anchor="t"/>
          <a:lstStyle/>
          <a:p>
            <a:pPr marL="0" indent="0" algn="l">
              <a:lnSpc>
                <a:spcPct val="104000"/>
              </a:lnSpc>
              <a:buNone/>
            </a:pPr>
            <a:r>
              <a:rPr lang="en-US" sz="1350" dirty="0">
                <a:solidFill>
                  <a:srgbClr val="EEAEF6"/>
                </a:solidFill>
                <a:latin typeface="Bricolage Grotesque ExtraBold" pitchFamily="34" charset="0"/>
                <a:ea typeface="Bricolage Grotesque ExtraBold" pitchFamily="34" charset="-122"/>
                <a:cs typeface="Bricolage Grotesque ExtraBold" pitchFamily="34" charset="-120"/>
              </a:rPr>
              <a:t>No-Show Rate by Prior No-Show History</a:t>
            </a:r>
            <a:endParaRPr lang="en-US" sz="1350" dirty="0"/>
          </a:p>
        </p:txBody>
      </p:sp>
      <p:pic>
        <p:nvPicPr>
          <p:cNvPr id="4" name="Image 0" descr="preencoded.png"/>
          <p:cNvPicPr>
            <a:picLocks noChangeAspect="1"/>
          </p:cNvPicPr>
          <p:nvPr/>
        </p:nvPicPr>
        <p:blipFill>
          <a:blip r:embed="rId3"/>
          <a:stretch>
            <a:fillRect/>
          </a:stretch>
        </p:blipFill>
        <p:spPr>
          <a:xfrm>
            <a:off x="426989" y="1676473"/>
            <a:ext cx="3972074" cy="2859115"/>
          </a:xfrm>
          <a:prstGeom prst="rect">
            <a:avLst/>
          </a:prstGeom>
        </p:spPr>
      </p:pic>
      <p:sp>
        <p:nvSpPr>
          <p:cNvPr id="5" name="Text 2"/>
          <p:cNvSpPr/>
          <p:nvPr/>
        </p:nvSpPr>
        <p:spPr>
          <a:xfrm>
            <a:off x="4749701" y="1295549"/>
            <a:ext cx="4130799" cy="221456"/>
          </a:xfrm>
          <a:prstGeom prst="rect">
            <a:avLst/>
          </a:prstGeom>
          <a:noFill/>
          <a:ln/>
        </p:spPr>
        <p:txBody>
          <a:bodyPr wrap="none" lIns="0" tIns="0" rIns="0" bIns="0" rtlCol="0" anchor="t"/>
          <a:lstStyle/>
          <a:p>
            <a:pPr marL="0" indent="0" algn="l">
              <a:lnSpc>
                <a:spcPct val="104000"/>
              </a:lnSpc>
              <a:buNone/>
            </a:pPr>
            <a:r>
              <a:rPr lang="en-US" sz="1350" dirty="0">
                <a:solidFill>
                  <a:srgbClr val="EEAEF6"/>
                </a:solidFill>
                <a:latin typeface="Bricolage Grotesque ExtraBold" pitchFamily="34" charset="0"/>
                <a:ea typeface="Bricolage Grotesque ExtraBold" pitchFamily="34" charset="-122"/>
                <a:cs typeface="Bricolage Grotesque ExtraBold" pitchFamily="34" charset="-120"/>
              </a:rPr>
              <a:t>Past Behavior Predicts Future Attendance</a:t>
            </a:r>
            <a:endParaRPr lang="en-US" sz="1350" dirty="0"/>
          </a:p>
        </p:txBody>
      </p:sp>
      <p:sp>
        <p:nvSpPr>
          <p:cNvPr id="6" name="Text 3"/>
          <p:cNvSpPr/>
          <p:nvPr/>
        </p:nvSpPr>
        <p:spPr>
          <a:xfrm>
            <a:off x="4749701" y="1658764"/>
            <a:ext cx="3902943" cy="1715244"/>
          </a:xfrm>
          <a:prstGeom prst="rect">
            <a:avLst/>
          </a:prstGeom>
          <a:noFill/>
          <a:ln/>
        </p:spPr>
        <p:txBody>
          <a:bodyPr wrap="square" lIns="0" tIns="0" rIns="0" bIns="0" rtlCol="0" anchor="t">
            <a:normAutofit/>
          </a:bodyPr>
          <a:lstStyle/>
          <a:p>
            <a:pPr marL="0" indent="0" algn="l">
              <a:lnSpc>
                <a:spcPct val="133000"/>
              </a:lnSpc>
              <a:spcAft>
                <a:spcPts val="1000"/>
              </a:spcAft>
              <a:buNone/>
            </a:pPr>
            <a:r>
              <a:rPr lang="en-US" sz="1100" dirty="0">
                <a:solidFill>
                  <a:srgbClr val="E5DCE6"/>
                </a:solidFill>
                <a:latin typeface="Montserrat" pitchFamily="34" charset="0"/>
                <a:ea typeface="Montserrat" pitchFamily="34" charset="-122"/>
                <a:cs typeface="Montserrat" pitchFamily="34" charset="-120"/>
              </a:rPr>
              <a:t>A very strong relationship exists between previous no-show history and future behavior. No-show rates escalate from 5.92% (no prior no-shows) to 31.82% (8+ prior no-shows).</a:t>
            </a:r>
            <a:endParaRPr lang="en-US" sz="1100" dirty="0"/>
          </a:p>
          <a:p>
            <a:pPr marL="0" indent="0" algn="l">
              <a:lnSpc>
                <a:spcPct val="133000"/>
              </a:lnSpc>
              <a:buNone/>
            </a:pPr>
            <a:r>
              <a:rPr lang="en-US" sz="1100" dirty="0">
                <a:solidFill>
                  <a:srgbClr val="E5DCE6"/>
                </a:solidFill>
                <a:latin typeface="Montserrat" pitchFamily="34" charset="0"/>
                <a:ea typeface="Montserrat" pitchFamily="34" charset="-122"/>
                <a:cs typeface="Montserrat" pitchFamily="34" charset="-120"/>
              </a:rPr>
              <a:t>This is one of the strongest predictors identified and suggests past no-show behavior is a critical signal for targeted intervention strategies.</a:t>
            </a:r>
            <a:endParaRPr lang="en-US" sz="1100" dirty="0"/>
          </a:p>
        </p:txBody>
      </p:sp>
      <p:sp>
        <p:nvSpPr>
          <p:cNvPr id="7" name="Rectangle 6">
            <a:extLst>
              <a:ext uri="{FF2B5EF4-FFF2-40B4-BE49-F238E27FC236}">
                <a16:creationId xmlns:a16="http://schemas.microsoft.com/office/drawing/2014/main" id="{9F68A981-73E9-E319-1ED7-748FAE370743}"/>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458316"/>
            <a:ext cx="8151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EEAEF6"/>
                </a:solidFill>
                <a:latin typeface="Bricolage Grotesque ExtraBold" pitchFamily="34" charset="0"/>
                <a:ea typeface="Bricolage Grotesque ExtraBold" pitchFamily="34" charset="-122"/>
                <a:cs typeface="Bricolage Grotesque ExtraBold" pitchFamily="34" charset="-120"/>
              </a:rPr>
              <a:t>Patient Satisfaction: A Strong Inverse Relationship</a:t>
            </a:r>
            <a:endParaRPr lang="en-US" sz="2750" dirty="0"/>
          </a:p>
        </p:txBody>
      </p:sp>
      <p:pic>
        <p:nvPicPr>
          <p:cNvPr id="3" name="Image 0" descr="preencoded.png"/>
          <p:cNvPicPr>
            <a:picLocks noChangeAspect="1"/>
          </p:cNvPicPr>
          <p:nvPr/>
        </p:nvPicPr>
        <p:blipFill>
          <a:blip r:embed="rId3"/>
          <a:stretch>
            <a:fillRect/>
          </a:stretch>
        </p:blipFill>
        <p:spPr>
          <a:xfrm>
            <a:off x="163010" y="1476587"/>
            <a:ext cx="4408989" cy="3173608"/>
          </a:xfrm>
          <a:prstGeom prst="rect">
            <a:avLst/>
          </a:prstGeom>
        </p:spPr>
      </p:pic>
      <p:sp>
        <p:nvSpPr>
          <p:cNvPr id="4" name="Text 1"/>
          <p:cNvSpPr/>
          <p:nvPr/>
        </p:nvSpPr>
        <p:spPr>
          <a:xfrm>
            <a:off x="4749701" y="1698650"/>
            <a:ext cx="3400946" cy="221456"/>
          </a:xfrm>
          <a:prstGeom prst="rect">
            <a:avLst/>
          </a:prstGeom>
          <a:noFill/>
          <a:ln/>
        </p:spPr>
        <p:txBody>
          <a:bodyPr wrap="none" lIns="0" tIns="0" rIns="0" bIns="0" rtlCol="0" anchor="t"/>
          <a:lstStyle/>
          <a:p>
            <a:pPr marL="0" indent="0" algn="l">
              <a:lnSpc>
                <a:spcPct val="104000"/>
              </a:lnSpc>
              <a:buNone/>
            </a:pPr>
            <a:r>
              <a:rPr lang="en-US" sz="1350" dirty="0">
                <a:solidFill>
                  <a:srgbClr val="EEAEF6"/>
                </a:solidFill>
                <a:latin typeface="Bricolage Grotesque ExtraBold" pitchFamily="34" charset="0"/>
                <a:ea typeface="Bricolage Grotesque ExtraBold" pitchFamily="34" charset="-122"/>
                <a:cs typeface="Bricolage Grotesque ExtraBold" pitchFamily="34" charset="-120"/>
              </a:rPr>
              <a:t>The Satisfaction–Attendance Link</a:t>
            </a:r>
            <a:endParaRPr lang="en-US" sz="1350" dirty="0"/>
          </a:p>
        </p:txBody>
      </p:sp>
      <p:sp>
        <p:nvSpPr>
          <p:cNvPr id="5" name="Text 2"/>
          <p:cNvSpPr/>
          <p:nvPr/>
        </p:nvSpPr>
        <p:spPr>
          <a:xfrm>
            <a:off x="4749701" y="2061865"/>
            <a:ext cx="3902943" cy="148843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DCE6"/>
                </a:solidFill>
                <a:latin typeface="Montserrat" pitchFamily="34" charset="0"/>
                <a:ea typeface="Montserrat" pitchFamily="34" charset="-122"/>
                <a:cs typeface="Montserrat" pitchFamily="34" charset="-120"/>
              </a:rPr>
              <a:t>No-show rates fall from </a:t>
            </a:r>
            <a:r>
              <a:rPr lang="en-US" sz="1100" b="1" dirty="0">
                <a:solidFill>
                  <a:srgbClr val="E5DCE6"/>
                </a:solidFill>
                <a:latin typeface="Montserrat Bold" pitchFamily="34" charset="0"/>
                <a:ea typeface="Montserrat Bold" pitchFamily="34" charset="-122"/>
                <a:cs typeface="Montserrat Bold" pitchFamily="34" charset="-120"/>
              </a:rPr>
              <a:t>21.43%</a:t>
            </a:r>
            <a:r>
              <a:rPr lang="en-US" sz="1100" dirty="0">
                <a:solidFill>
                  <a:srgbClr val="E5DCE6"/>
                </a:solidFill>
                <a:latin typeface="Montserrat" pitchFamily="34" charset="0"/>
                <a:ea typeface="Montserrat" pitchFamily="34" charset="-122"/>
                <a:cs typeface="Montserrat" pitchFamily="34" charset="-120"/>
              </a:rPr>
              <a:t> (lowest satisfaction) to </a:t>
            </a:r>
            <a:r>
              <a:rPr lang="en-US" sz="1100" b="1" dirty="0">
                <a:solidFill>
                  <a:srgbClr val="E5DCE6"/>
                </a:solidFill>
                <a:latin typeface="Montserrat Bold" pitchFamily="34" charset="0"/>
                <a:ea typeface="Montserrat Bold" pitchFamily="34" charset="-122"/>
                <a:cs typeface="Montserrat Bold" pitchFamily="34" charset="-120"/>
              </a:rPr>
              <a:t>4.93%</a:t>
            </a:r>
            <a:r>
              <a:rPr lang="en-US" sz="1100" dirty="0">
                <a:solidFill>
                  <a:srgbClr val="E5DCE6"/>
                </a:solidFill>
                <a:latin typeface="Montserrat" pitchFamily="34" charset="0"/>
                <a:ea typeface="Montserrat" pitchFamily="34" charset="-122"/>
                <a:cs typeface="Montserrat" pitchFamily="34" charset="-120"/>
              </a:rPr>
              <a:t> (highest) — a </a:t>
            </a:r>
            <a:r>
              <a:rPr lang="en-US" sz="1100" b="1" dirty="0">
                <a:solidFill>
                  <a:srgbClr val="EEAEF6"/>
                </a:solidFill>
                <a:latin typeface="Montserrat Bold" pitchFamily="34" charset="0"/>
                <a:ea typeface="Montserrat Bold" pitchFamily="34" charset="-122"/>
                <a:cs typeface="Montserrat Bold" pitchFamily="34" charset="-120"/>
              </a:rPr>
              <a:t>4× difference</a:t>
            </a:r>
            <a:r>
              <a:rPr lang="en-US" sz="1100" dirty="0">
                <a:solidFill>
                  <a:srgbClr val="E5DCE6"/>
                </a:solidFill>
                <a:latin typeface="Montserrat" pitchFamily="34" charset="0"/>
                <a:ea typeface="Montserrat" pitchFamily="34" charset="-122"/>
                <a:cs typeface="Montserrat" pitchFamily="34" charset="-120"/>
              </a:rPr>
              <a:t> and one of the strongest associations in this analysis.</a:t>
            </a:r>
            <a:endParaRPr lang="en-US" sz="1100" dirty="0"/>
          </a:p>
          <a:p>
            <a:pPr marL="0" indent="0" algn="l">
              <a:lnSpc>
                <a:spcPct val="133000"/>
              </a:lnSpc>
              <a:buNone/>
            </a:pPr>
            <a:r>
              <a:rPr lang="en-US" sz="1100" dirty="0">
                <a:solidFill>
                  <a:srgbClr val="E5DCE6"/>
                </a:solidFill>
                <a:latin typeface="Montserrat" pitchFamily="34" charset="0"/>
                <a:ea typeface="Montserrat" pitchFamily="34" charset="-122"/>
                <a:cs typeface="Montserrat" pitchFamily="34" charset="-120"/>
              </a:rPr>
              <a:t>Improving patient experience is not just a quality metric — it is a direct lever for reducing missed visits and optimizing clinic throughput.</a:t>
            </a:r>
            <a:endParaRPr lang="en-US" sz="1100" dirty="0"/>
          </a:p>
        </p:txBody>
      </p:sp>
      <p:sp>
        <p:nvSpPr>
          <p:cNvPr id="6" name="Rectangle 5">
            <a:extLst>
              <a:ext uri="{FF2B5EF4-FFF2-40B4-BE49-F238E27FC236}">
                <a16:creationId xmlns:a16="http://schemas.microsoft.com/office/drawing/2014/main" id="{E055D370-6A4C-8DA1-BD9D-1976B85658A7}"/>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1027212"/>
            <a:ext cx="5849541" cy="442987"/>
          </a:xfrm>
          <a:prstGeom prst="rect">
            <a:avLst/>
          </a:prstGeom>
          <a:noFill/>
          <a:ln/>
        </p:spPr>
        <p:txBody>
          <a:bodyPr wrap="none" lIns="0" tIns="0" rIns="0" bIns="0" rtlCol="0" anchor="t"/>
          <a:lstStyle/>
          <a:p>
            <a:pPr marL="0" indent="0" algn="l">
              <a:lnSpc>
                <a:spcPct val="104000"/>
              </a:lnSpc>
              <a:buNone/>
            </a:pPr>
            <a:r>
              <a:rPr lang="en-US" sz="2750" dirty="0">
                <a:solidFill>
                  <a:srgbClr val="EEAEF6"/>
                </a:solidFill>
                <a:latin typeface="Bricolage Grotesque ExtraBold" pitchFamily="34" charset="0"/>
                <a:ea typeface="Bricolage Grotesque ExtraBold" pitchFamily="34" charset="-122"/>
                <a:cs typeface="Bricolage Grotesque ExtraBold" pitchFamily="34" charset="-120"/>
              </a:rPr>
              <a:t>Clinic &amp; Environmental Factors</a:t>
            </a:r>
            <a:endParaRPr lang="en-US" sz="2750" dirty="0"/>
          </a:p>
        </p:txBody>
      </p:sp>
      <p:pic>
        <p:nvPicPr>
          <p:cNvPr id="3" name="Image 0" descr="preencoded.png"/>
          <p:cNvPicPr>
            <a:picLocks noChangeAspect="1"/>
          </p:cNvPicPr>
          <p:nvPr/>
        </p:nvPicPr>
        <p:blipFill>
          <a:blip r:embed="rId3"/>
          <a:stretch>
            <a:fillRect/>
          </a:stretch>
        </p:blipFill>
        <p:spPr>
          <a:xfrm>
            <a:off x="496119" y="1753716"/>
            <a:ext cx="838200" cy="517996"/>
          </a:xfrm>
          <a:prstGeom prst="rect">
            <a:avLst/>
          </a:prstGeom>
        </p:spPr>
      </p:pic>
      <p:sp>
        <p:nvSpPr>
          <p:cNvPr id="4" name="Text 1"/>
          <p:cNvSpPr/>
          <p:nvPr/>
        </p:nvSpPr>
        <p:spPr>
          <a:xfrm>
            <a:off x="496119" y="2448892"/>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E5DCE6"/>
                </a:solidFill>
                <a:latin typeface="Bricolage Grotesque ExtraBold" pitchFamily="34" charset="0"/>
                <a:ea typeface="Bricolage Grotesque ExtraBold" pitchFamily="34" charset="-122"/>
                <a:cs typeface="Bricolage Grotesque ExtraBold" pitchFamily="34" charset="-120"/>
              </a:rPr>
              <a:t>Travel Distance</a:t>
            </a:r>
            <a:endParaRPr lang="en-US" sz="1350" dirty="0"/>
          </a:p>
        </p:txBody>
      </p:sp>
      <p:sp>
        <p:nvSpPr>
          <p:cNvPr id="5" name="Text 2"/>
          <p:cNvSpPr/>
          <p:nvPr/>
        </p:nvSpPr>
        <p:spPr>
          <a:xfrm>
            <a:off x="496119" y="2755404"/>
            <a:ext cx="1905000"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DCE6"/>
                </a:solidFill>
                <a:latin typeface="Montserrat" pitchFamily="34" charset="0"/>
                <a:ea typeface="Montserrat" pitchFamily="34" charset="-122"/>
                <a:cs typeface="Montserrat" pitchFamily="34" charset="-120"/>
              </a:rPr>
              <a:t>No-shows rise from </a:t>
            </a:r>
            <a:r>
              <a:rPr lang="en-US" sz="1100" b="1" dirty="0">
                <a:solidFill>
                  <a:srgbClr val="E5DCE6"/>
                </a:solidFill>
                <a:latin typeface="Montserrat Bold" pitchFamily="34" charset="0"/>
                <a:ea typeface="Montserrat Bold" pitchFamily="34" charset="-122"/>
                <a:cs typeface="Montserrat Bold" pitchFamily="34" charset="-120"/>
              </a:rPr>
              <a:t>6.86%</a:t>
            </a:r>
            <a:r>
              <a:rPr lang="en-US" sz="1100" dirty="0">
                <a:solidFill>
                  <a:srgbClr val="E5DCE6"/>
                </a:solidFill>
                <a:latin typeface="Montserrat" pitchFamily="34" charset="0"/>
                <a:ea typeface="Montserrat" pitchFamily="34" charset="-122"/>
                <a:cs typeface="Montserrat" pitchFamily="34" charset="-120"/>
              </a:rPr>
              <a:t> (&lt;2 km) to </a:t>
            </a:r>
            <a:r>
              <a:rPr lang="en-US" sz="1100" b="1" dirty="0">
                <a:solidFill>
                  <a:srgbClr val="E5DCE6"/>
                </a:solidFill>
                <a:latin typeface="Montserrat Bold" pitchFamily="34" charset="0"/>
                <a:ea typeface="Montserrat Bold" pitchFamily="34" charset="-122"/>
                <a:cs typeface="Montserrat Bold" pitchFamily="34" charset="-120"/>
              </a:rPr>
              <a:t>10.93%</a:t>
            </a:r>
            <a:r>
              <a:rPr lang="en-US" sz="1100" dirty="0">
                <a:solidFill>
                  <a:srgbClr val="E5DCE6"/>
                </a:solidFill>
                <a:latin typeface="Montserrat" pitchFamily="34" charset="0"/>
                <a:ea typeface="Montserrat" pitchFamily="34" charset="-122"/>
                <a:cs typeface="Montserrat" pitchFamily="34" charset="-120"/>
              </a:rPr>
              <a:t> (&gt;20 km). Car users show the lowest rate (7.27%); walkers the highest (9.68%).</a:t>
            </a:r>
            <a:endParaRPr lang="en-US" sz="1100" dirty="0"/>
          </a:p>
        </p:txBody>
      </p:sp>
      <p:pic>
        <p:nvPicPr>
          <p:cNvPr id="6" name="Image 1" descr="preencoded.png"/>
          <p:cNvPicPr>
            <a:picLocks noChangeAspect="1"/>
          </p:cNvPicPr>
          <p:nvPr/>
        </p:nvPicPr>
        <p:blipFill>
          <a:blip r:embed="rId4"/>
          <a:stretch>
            <a:fillRect/>
          </a:stretch>
        </p:blipFill>
        <p:spPr>
          <a:xfrm>
            <a:off x="2578298" y="1753716"/>
            <a:ext cx="838200" cy="517996"/>
          </a:xfrm>
          <a:prstGeom prst="rect">
            <a:avLst/>
          </a:prstGeom>
        </p:spPr>
      </p:pic>
      <p:sp>
        <p:nvSpPr>
          <p:cNvPr id="7" name="Text 3"/>
          <p:cNvSpPr/>
          <p:nvPr/>
        </p:nvSpPr>
        <p:spPr>
          <a:xfrm>
            <a:off x="2578298" y="2448892"/>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E5DCE6"/>
                </a:solidFill>
                <a:latin typeface="Bricolage Grotesque ExtraBold" pitchFamily="34" charset="0"/>
                <a:ea typeface="Bricolage Grotesque ExtraBold" pitchFamily="34" charset="-122"/>
                <a:cs typeface="Bricolage Grotesque ExtraBold" pitchFamily="34" charset="-120"/>
              </a:rPr>
              <a:t>Weather Conditions</a:t>
            </a:r>
            <a:endParaRPr lang="en-US" sz="1350" dirty="0"/>
          </a:p>
        </p:txBody>
      </p:sp>
      <p:sp>
        <p:nvSpPr>
          <p:cNvPr id="8" name="Text 4"/>
          <p:cNvSpPr/>
          <p:nvPr/>
        </p:nvSpPr>
        <p:spPr>
          <a:xfrm>
            <a:off x="2578298" y="2755404"/>
            <a:ext cx="1905074"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DCE6"/>
                </a:solidFill>
                <a:latin typeface="Montserrat" pitchFamily="34" charset="0"/>
                <a:ea typeface="Montserrat" pitchFamily="34" charset="-122"/>
                <a:cs typeface="Montserrat" pitchFamily="34" charset="-120"/>
              </a:rPr>
              <a:t>Rain raises no-shows to </a:t>
            </a:r>
            <a:r>
              <a:rPr lang="en-US" sz="1100" b="1" dirty="0">
                <a:solidFill>
                  <a:srgbClr val="E5DCE6"/>
                </a:solidFill>
                <a:latin typeface="Montserrat Bold" pitchFamily="34" charset="0"/>
                <a:ea typeface="Montserrat Bold" pitchFamily="34" charset="-122"/>
                <a:cs typeface="Montserrat Bold" pitchFamily="34" charset="-120"/>
              </a:rPr>
              <a:t>10.43%</a:t>
            </a:r>
            <a:r>
              <a:rPr lang="en-US" sz="1100" dirty="0">
                <a:solidFill>
                  <a:srgbClr val="E5DCE6"/>
                </a:solidFill>
                <a:latin typeface="Montserrat" pitchFamily="34" charset="0"/>
                <a:ea typeface="Montserrat" pitchFamily="34" charset="-122"/>
                <a:cs typeface="Montserrat" pitchFamily="34" charset="-120"/>
              </a:rPr>
              <a:t>; sunny and cloudy days hold rates near </a:t>
            </a:r>
            <a:r>
              <a:rPr lang="en-US" sz="1100" b="1" dirty="0">
                <a:solidFill>
                  <a:srgbClr val="E5DCE6"/>
                </a:solidFill>
                <a:latin typeface="Montserrat Bold" pitchFamily="34" charset="0"/>
                <a:ea typeface="Montserrat Bold" pitchFamily="34" charset="-122"/>
                <a:cs typeface="Montserrat Bold" pitchFamily="34" charset="-120"/>
              </a:rPr>
              <a:t>7.4%</a:t>
            </a:r>
            <a:r>
              <a:rPr lang="en-US" sz="1100" dirty="0">
                <a:solidFill>
                  <a:srgbClr val="E5DCE6"/>
                </a:solidFill>
                <a:latin typeface="Montserrat" pitchFamily="34" charset="0"/>
                <a:ea typeface="Montserrat" pitchFamily="34" charset="-122"/>
                <a:cs typeface="Montserrat" pitchFamily="34" charset="-120"/>
              </a:rPr>
              <a:t>. Adverse weather is a meaningful external driver.</a:t>
            </a:r>
            <a:endParaRPr lang="en-US" sz="1100" dirty="0"/>
          </a:p>
        </p:txBody>
      </p:sp>
      <p:pic>
        <p:nvPicPr>
          <p:cNvPr id="9" name="Image 2" descr="preencoded.png"/>
          <p:cNvPicPr>
            <a:picLocks noChangeAspect="1"/>
          </p:cNvPicPr>
          <p:nvPr/>
        </p:nvPicPr>
        <p:blipFill>
          <a:blip r:embed="rId5"/>
          <a:stretch>
            <a:fillRect/>
          </a:stretch>
        </p:blipFill>
        <p:spPr>
          <a:xfrm>
            <a:off x="4660553" y="1753716"/>
            <a:ext cx="838200" cy="517996"/>
          </a:xfrm>
          <a:prstGeom prst="rect">
            <a:avLst/>
          </a:prstGeom>
        </p:spPr>
      </p:pic>
      <p:sp>
        <p:nvSpPr>
          <p:cNvPr id="10" name="Text 5"/>
          <p:cNvSpPr/>
          <p:nvPr/>
        </p:nvSpPr>
        <p:spPr>
          <a:xfrm>
            <a:off x="4660553" y="2448892"/>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E5DCE6"/>
                </a:solidFill>
                <a:latin typeface="Bricolage Grotesque ExtraBold" pitchFamily="34" charset="0"/>
                <a:ea typeface="Bricolage Grotesque ExtraBold" pitchFamily="34" charset="-122"/>
                <a:cs typeface="Bricolage Grotesque ExtraBold" pitchFamily="34" charset="-120"/>
              </a:rPr>
              <a:t>Insurance Type</a:t>
            </a:r>
            <a:endParaRPr lang="en-US" sz="1350" dirty="0"/>
          </a:p>
        </p:txBody>
      </p:sp>
      <p:sp>
        <p:nvSpPr>
          <p:cNvPr id="11" name="Text 6"/>
          <p:cNvSpPr/>
          <p:nvPr/>
        </p:nvSpPr>
        <p:spPr>
          <a:xfrm>
            <a:off x="4660553" y="2755404"/>
            <a:ext cx="1905074"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DCE6"/>
                </a:solidFill>
                <a:latin typeface="Montserrat" pitchFamily="34" charset="0"/>
                <a:ea typeface="Montserrat" pitchFamily="34" charset="-122"/>
                <a:cs typeface="Montserrat" pitchFamily="34" charset="-120"/>
              </a:rPr>
              <a:t>Uninsured patients: </a:t>
            </a:r>
            <a:r>
              <a:rPr lang="en-US" sz="1100" b="1" dirty="0">
                <a:solidFill>
                  <a:srgbClr val="E5DCE6"/>
                </a:solidFill>
                <a:latin typeface="Montserrat Bold" pitchFamily="34" charset="0"/>
                <a:ea typeface="Montserrat Bold" pitchFamily="34" charset="-122"/>
                <a:cs typeface="Montserrat Bold" pitchFamily="34" charset="-120"/>
              </a:rPr>
              <a:t>11.04%</a:t>
            </a:r>
            <a:r>
              <a:rPr lang="en-US" sz="1100" dirty="0">
                <a:solidFill>
                  <a:srgbClr val="E5DCE6"/>
                </a:solidFill>
                <a:latin typeface="Montserrat" pitchFamily="34" charset="0"/>
                <a:ea typeface="Montserrat" pitchFamily="34" charset="-122"/>
                <a:cs typeface="Montserrat" pitchFamily="34" charset="-120"/>
              </a:rPr>
              <a:t> no-show rate. Private insurance: </a:t>
            </a:r>
            <a:r>
              <a:rPr lang="en-US" sz="1100" b="1" dirty="0">
                <a:solidFill>
                  <a:srgbClr val="E5DCE6"/>
                </a:solidFill>
                <a:latin typeface="Montserrat Bold" pitchFamily="34" charset="0"/>
                <a:ea typeface="Montserrat Bold" pitchFamily="34" charset="-122"/>
                <a:cs typeface="Montserrat Bold" pitchFamily="34" charset="-120"/>
              </a:rPr>
              <a:t>7.60%</a:t>
            </a:r>
            <a:r>
              <a:rPr lang="en-US" sz="1100" dirty="0">
                <a:solidFill>
                  <a:srgbClr val="E5DCE6"/>
                </a:solidFill>
                <a:latin typeface="Montserrat" pitchFamily="34" charset="0"/>
                <a:ea typeface="Montserrat" pitchFamily="34" charset="-122"/>
                <a:cs typeface="Montserrat" pitchFamily="34" charset="-120"/>
              </a:rPr>
              <a:t>. Coverage status is a strong equity-related attendance factor.</a:t>
            </a:r>
            <a:endParaRPr lang="en-US" sz="1100" dirty="0"/>
          </a:p>
        </p:txBody>
      </p:sp>
      <p:pic>
        <p:nvPicPr>
          <p:cNvPr id="12" name="Image 3" descr="preencoded.png"/>
          <p:cNvPicPr>
            <a:picLocks noChangeAspect="1"/>
          </p:cNvPicPr>
          <p:nvPr/>
        </p:nvPicPr>
        <p:blipFill>
          <a:blip r:embed="rId6"/>
          <a:stretch>
            <a:fillRect/>
          </a:stretch>
        </p:blipFill>
        <p:spPr>
          <a:xfrm>
            <a:off x="6742807" y="1753716"/>
            <a:ext cx="838200" cy="517996"/>
          </a:xfrm>
          <a:prstGeom prst="rect">
            <a:avLst/>
          </a:prstGeom>
        </p:spPr>
      </p:pic>
      <p:sp>
        <p:nvSpPr>
          <p:cNvPr id="13" name="Text 7"/>
          <p:cNvSpPr/>
          <p:nvPr/>
        </p:nvSpPr>
        <p:spPr>
          <a:xfrm>
            <a:off x="6742807" y="2448892"/>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E5DCE6"/>
                </a:solidFill>
                <a:latin typeface="Bricolage Grotesque ExtraBold" pitchFamily="34" charset="0"/>
                <a:ea typeface="Bricolage Grotesque ExtraBold" pitchFamily="34" charset="-122"/>
                <a:cs typeface="Bricolage Grotesque ExtraBold" pitchFamily="34" charset="-120"/>
              </a:rPr>
              <a:t>Appointment Type</a:t>
            </a:r>
            <a:endParaRPr lang="en-US" sz="1350" dirty="0"/>
          </a:p>
        </p:txBody>
      </p:sp>
      <p:sp>
        <p:nvSpPr>
          <p:cNvPr id="14" name="Text 8"/>
          <p:cNvSpPr/>
          <p:nvPr/>
        </p:nvSpPr>
        <p:spPr>
          <a:xfrm>
            <a:off x="6742807" y="2755404"/>
            <a:ext cx="1905074"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DCE6"/>
                </a:solidFill>
                <a:latin typeface="Montserrat" pitchFamily="34" charset="0"/>
                <a:ea typeface="Montserrat" pitchFamily="34" charset="-122"/>
                <a:cs typeface="Montserrat" pitchFamily="34" charset="-120"/>
              </a:rPr>
              <a:t>Emergency visits: </a:t>
            </a:r>
            <a:r>
              <a:rPr lang="en-US" sz="1100" b="1" dirty="0">
                <a:solidFill>
                  <a:srgbClr val="E5DCE6"/>
                </a:solidFill>
                <a:latin typeface="Montserrat Bold" pitchFamily="34" charset="0"/>
                <a:ea typeface="Montserrat Bold" pitchFamily="34" charset="-122"/>
                <a:cs typeface="Montserrat Bold" pitchFamily="34" charset="-120"/>
              </a:rPr>
              <a:t>4.87%</a:t>
            </a:r>
            <a:r>
              <a:rPr lang="en-US" sz="1100" dirty="0">
                <a:solidFill>
                  <a:srgbClr val="E5DCE6"/>
                </a:solidFill>
                <a:latin typeface="Montserrat" pitchFamily="34" charset="0"/>
                <a:ea typeface="Montserrat" pitchFamily="34" charset="-122"/>
                <a:cs typeface="Montserrat" pitchFamily="34" charset="-120"/>
              </a:rPr>
              <a:t> (lowest). Therapy: </a:t>
            </a:r>
            <a:r>
              <a:rPr lang="en-US" sz="1100" b="1" dirty="0">
                <a:solidFill>
                  <a:srgbClr val="E5DCE6"/>
                </a:solidFill>
                <a:latin typeface="Montserrat Bold" pitchFamily="34" charset="0"/>
                <a:ea typeface="Montserrat Bold" pitchFamily="34" charset="-122"/>
                <a:cs typeface="Montserrat Bold" pitchFamily="34" charset="-120"/>
              </a:rPr>
              <a:t>9.02%</a:t>
            </a:r>
            <a:r>
              <a:rPr lang="en-US" sz="1100" dirty="0">
                <a:solidFill>
                  <a:srgbClr val="E5DCE6"/>
                </a:solidFill>
                <a:latin typeface="Montserrat" pitchFamily="34" charset="0"/>
                <a:ea typeface="Montserrat" pitchFamily="34" charset="-122"/>
                <a:cs typeface="Montserrat" pitchFamily="34" charset="-120"/>
              </a:rPr>
              <a:t> (highest). Perceived urgency directly shapes attendance.</a:t>
            </a:r>
            <a:endParaRPr lang="en-US" sz="1100" dirty="0"/>
          </a:p>
        </p:txBody>
      </p:sp>
      <p:sp>
        <p:nvSpPr>
          <p:cNvPr id="15" name="Rectangle 14">
            <a:extLst>
              <a:ext uri="{FF2B5EF4-FFF2-40B4-BE49-F238E27FC236}">
                <a16:creationId xmlns:a16="http://schemas.microsoft.com/office/drawing/2014/main" id="{E1192B64-8B24-7055-D640-AE4658D156E5}"/>
              </a:ext>
            </a:extLst>
          </p:cNvPr>
          <p:cNvSpPr/>
          <p:nvPr/>
        </p:nvSpPr>
        <p:spPr>
          <a:xfrm>
            <a:off x="8035156" y="4829387"/>
            <a:ext cx="1061431" cy="314113"/>
          </a:xfrm>
          <a:prstGeom prst="rect">
            <a:avLst/>
          </a:prstGeom>
          <a:solidFill>
            <a:srgbClr val="090E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543550" y="0"/>
            <a:ext cx="3600450" cy="5143500"/>
          </a:xfrm>
          <a:prstGeom prst="rect">
            <a:avLst/>
          </a:prstGeom>
        </p:spPr>
      </p:pic>
      <p:sp>
        <p:nvSpPr>
          <p:cNvPr id="3" name="Text 0"/>
          <p:cNvSpPr/>
          <p:nvPr/>
        </p:nvSpPr>
        <p:spPr>
          <a:xfrm>
            <a:off x="496119" y="396925"/>
            <a:ext cx="4722763" cy="678359"/>
          </a:xfrm>
          <a:prstGeom prst="rect">
            <a:avLst/>
          </a:prstGeom>
          <a:noFill/>
          <a:ln/>
        </p:spPr>
        <p:txBody>
          <a:bodyPr wrap="square" lIns="0" tIns="0" rIns="0" bIns="0" rtlCol="0" anchor="t">
            <a:normAutofit/>
          </a:bodyPr>
          <a:lstStyle/>
          <a:p>
            <a:pPr marL="0" indent="0" algn="l">
              <a:lnSpc>
                <a:spcPct val="104000"/>
              </a:lnSpc>
              <a:buNone/>
            </a:pPr>
            <a:r>
              <a:rPr lang="en-US" sz="2100" dirty="0">
                <a:solidFill>
                  <a:srgbClr val="EEAEF6"/>
                </a:solidFill>
                <a:latin typeface="Bricolage Grotesque ExtraBold" pitchFamily="34" charset="0"/>
                <a:ea typeface="Bricolage Grotesque ExtraBold" pitchFamily="34" charset="-122"/>
                <a:cs typeface="Bricolage Grotesque ExtraBold" pitchFamily="34" charset="-120"/>
              </a:rPr>
              <a:t>Key Takeaways &amp; Recommendations</a:t>
            </a:r>
            <a:endParaRPr lang="en-US" sz="2100" dirty="0"/>
          </a:p>
        </p:txBody>
      </p:sp>
      <p:sp>
        <p:nvSpPr>
          <p:cNvPr id="4" name="Shape 1"/>
          <p:cNvSpPr/>
          <p:nvPr/>
        </p:nvSpPr>
        <p:spPr>
          <a:xfrm>
            <a:off x="496119" y="1199927"/>
            <a:ext cx="4722763" cy="901005"/>
          </a:xfrm>
          <a:prstGeom prst="roundRect">
            <a:avLst>
              <a:gd name="adj" fmla="val 5060"/>
            </a:avLst>
          </a:prstGeom>
          <a:solidFill>
            <a:srgbClr val="282D5E"/>
          </a:solidFill>
          <a:ln/>
        </p:spPr>
      </p:sp>
      <p:sp>
        <p:nvSpPr>
          <p:cNvPr id="5" name="Text 2"/>
          <p:cNvSpPr/>
          <p:nvPr/>
        </p:nvSpPr>
        <p:spPr>
          <a:xfrm>
            <a:off x="604614" y="1308422"/>
            <a:ext cx="1529209" cy="174278"/>
          </a:xfrm>
          <a:prstGeom prst="rect">
            <a:avLst/>
          </a:prstGeom>
          <a:noFill/>
          <a:ln/>
        </p:spPr>
        <p:txBody>
          <a:bodyPr wrap="none" lIns="0" tIns="0" rIns="0" bIns="0" rtlCol="0" anchor="t"/>
          <a:lstStyle/>
          <a:p>
            <a:pPr marL="0" indent="0" algn="l">
              <a:lnSpc>
                <a:spcPct val="104000"/>
              </a:lnSpc>
              <a:buNone/>
            </a:pPr>
            <a:r>
              <a:rPr lang="en-IN" sz="1050" dirty="0">
                <a:solidFill>
                  <a:srgbClr val="E5DCE6"/>
                </a:solidFill>
                <a:latin typeface="Bricolage Grotesque ExtraBold" pitchFamily="34" charset="0"/>
                <a:ea typeface="Bricolage Grotesque ExtraBold" pitchFamily="34" charset="-122"/>
                <a:cs typeface="Bricolage Grotesque ExtraBold" pitchFamily="34" charset="-120"/>
              </a:rPr>
              <a:t>🔴</a:t>
            </a:r>
            <a:r>
              <a:rPr lang="en-US" sz="1050" dirty="0">
                <a:solidFill>
                  <a:srgbClr val="E5DCE6"/>
                </a:solidFill>
                <a:latin typeface="Bricolage Grotesque ExtraBold" pitchFamily="34" charset="0"/>
                <a:ea typeface="Bricolage Grotesque ExtraBold" pitchFamily="34" charset="-122"/>
                <a:cs typeface="Bricolage Grotesque ExtraBold" pitchFamily="34" charset="-120"/>
              </a:rPr>
              <a:t> Act on Waiting Time</a:t>
            </a:r>
            <a:endParaRPr lang="en-US" sz="1050" dirty="0"/>
          </a:p>
        </p:txBody>
      </p:sp>
      <p:sp>
        <p:nvSpPr>
          <p:cNvPr id="6" name="Text 3"/>
          <p:cNvSpPr/>
          <p:nvPr/>
        </p:nvSpPr>
        <p:spPr>
          <a:xfrm>
            <a:off x="604614" y="1532558"/>
            <a:ext cx="4505771" cy="459879"/>
          </a:xfrm>
          <a:prstGeom prst="rect">
            <a:avLst/>
          </a:prstGeom>
          <a:noFill/>
          <a:ln/>
        </p:spPr>
        <p:txBody>
          <a:bodyPr wrap="square" lIns="0" tIns="0" rIns="0" bIns="0" rtlCol="0" anchor="t">
            <a:normAutofit fontScale="92500"/>
          </a:bodyPr>
          <a:lstStyle/>
          <a:p>
            <a:pPr marL="0" indent="0" algn="l">
              <a:lnSpc>
                <a:spcPct val="118000"/>
              </a:lnSpc>
              <a:buNone/>
            </a:pPr>
            <a:r>
              <a:rPr lang="en-US" sz="900" dirty="0">
                <a:solidFill>
                  <a:srgbClr val="E5DCE6"/>
                </a:solidFill>
                <a:latin typeface="Montserrat" pitchFamily="34" charset="0"/>
                <a:ea typeface="Montserrat" pitchFamily="34" charset="-122"/>
                <a:cs typeface="Montserrat" pitchFamily="34" charset="-120"/>
              </a:rPr>
              <a:t>Review scheduling policies for long lead times. Consider additional reminders or follow-up for appointments booked more than 30 days in advance. Cap advance bookings at 30 days. Send automated reminders at 7 and 3 days before the visit.</a:t>
            </a:r>
            <a:endParaRPr lang="en-US" sz="900" dirty="0"/>
          </a:p>
        </p:txBody>
      </p:sp>
      <p:sp>
        <p:nvSpPr>
          <p:cNvPr id="7" name="Shape 4"/>
          <p:cNvSpPr/>
          <p:nvPr/>
        </p:nvSpPr>
        <p:spPr>
          <a:xfrm>
            <a:off x="496119" y="2183978"/>
            <a:ext cx="4722763" cy="901005"/>
          </a:xfrm>
          <a:prstGeom prst="roundRect">
            <a:avLst>
              <a:gd name="adj" fmla="val 5060"/>
            </a:avLst>
          </a:prstGeom>
          <a:solidFill>
            <a:srgbClr val="282D5E"/>
          </a:solidFill>
          <a:ln/>
        </p:spPr>
      </p:sp>
      <p:sp>
        <p:nvSpPr>
          <p:cNvPr id="8" name="Text 5"/>
          <p:cNvSpPr/>
          <p:nvPr/>
        </p:nvSpPr>
        <p:spPr>
          <a:xfrm>
            <a:off x="604614" y="2292474"/>
            <a:ext cx="1941091" cy="174278"/>
          </a:xfrm>
          <a:prstGeom prst="rect">
            <a:avLst/>
          </a:prstGeom>
          <a:noFill/>
          <a:ln/>
        </p:spPr>
        <p:txBody>
          <a:bodyPr wrap="none" lIns="0" tIns="0" rIns="0" bIns="0" rtlCol="0" anchor="t"/>
          <a:lstStyle/>
          <a:p>
            <a:pPr marL="0" indent="0" algn="l">
              <a:lnSpc>
                <a:spcPct val="104000"/>
              </a:lnSpc>
              <a:buNone/>
            </a:pPr>
            <a:r>
              <a:rPr lang="en-IN" sz="1050" dirty="0">
                <a:solidFill>
                  <a:srgbClr val="E5DCE6"/>
                </a:solidFill>
                <a:latin typeface="Bricolage Grotesque ExtraBold" pitchFamily="34" charset="0"/>
                <a:ea typeface="Bricolage Grotesque ExtraBold" pitchFamily="34" charset="-122"/>
                <a:cs typeface="Bricolage Grotesque ExtraBold" pitchFamily="34" charset="-120"/>
              </a:rPr>
              <a:t>📞</a:t>
            </a:r>
            <a:r>
              <a:rPr lang="en-US" sz="1050" dirty="0">
                <a:solidFill>
                  <a:srgbClr val="E5DCE6"/>
                </a:solidFill>
                <a:latin typeface="Bricolage Grotesque ExtraBold" pitchFamily="34" charset="0"/>
                <a:ea typeface="Bricolage Grotesque ExtraBold" pitchFamily="34" charset="-122"/>
                <a:cs typeface="Bricolage Grotesque ExtraBold" pitchFamily="34" charset="-120"/>
              </a:rPr>
              <a:t> Scale Reminder Programs</a:t>
            </a:r>
            <a:endParaRPr lang="en-US" sz="1050" dirty="0"/>
          </a:p>
        </p:txBody>
      </p:sp>
      <p:sp>
        <p:nvSpPr>
          <p:cNvPr id="9" name="Text 6"/>
          <p:cNvSpPr/>
          <p:nvPr/>
        </p:nvSpPr>
        <p:spPr>
          <a:xfrm>
            <a:off x="604614" y="2516609"/>
            <a:ext cx="4505771" cy="459879"/>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E5DCE6"/>
                </a:solidFill>
                <a:latin typeface="Montserrat" pitchFamily="34" charset="0"/>
                <a:ea typeface="Montserrat" pitchFamily="34" charset="-122"/>
                <a:cs typeface="Montserrat" pitchFamily="34" charset="-120"/>
              </a:rPr>
              <a:t>3 calls reduce no-shows to 5.17%. Patients receiving more reminder calls exhibited lower no-show rates. Prioritize reminder programs, particularly for patients with a history of missed appointments</a:t>
            </a:r>
            <a:endParaRPr lang="en-US" sz="850" dirty="0"/>
          </a:p>
        </p:txBody>
      </p:sp>
      <p:sp>
        <p:nvSpPr>
          <p:cNvPr id="10" name="Shape 7"/>
          <p:cNvSpPr/>
          <p:nvPr/>
        </p:nvSpPr>
        <p:spPr>
          <a:xfrm>
            <a:off x="496119" y="3168030"/>
            <a:ext cx="4722763" cy="747713"/>
          </a:xfrm>
          <a:prstGeom prst="roundRect">
            <a:avLst>
              <a:gd name="adj" fmla="val 6097"/>
            </a:avLst>
          </a:prstGeom>
          <a:solidFill>
            <a:srgbClr val="282D5E"/>
          </a:solidFill>
          <a:ln/>
        </p:spPr>
      </p:sp>
      <p:sp>
        <p:nvSpPr>
          <p:cNvPr id="11" name="Text 8"/>
          <p:cNvSpPr/>
          <p:nvPr/>
        </p:nvSpPr>
        <p:spPr>
          <a:xfrm>
            <a:off x="604614" y="3276526"/>
            <a:ext cx="1614860" cy="174278"/>
          </a:xfrm>
          <a:prstGeom prst="rect">
            <a:avLst/>
          </a:prstGeom>
          <a:noFill/>
          <a:ln/>
        </p:spPr>
        <p:txBody>
          <a:bodyPr wrap="none" lIns="0" tIns="0" rIns="0" bIns="0" rtlCol="0" anchor="t"/>
          <a:lstStyle/>
          <a:p>
            <a:pPr marL="0" indent="0" algn="l">
              <a:lnSpc>
                <a:spcPct val="104000"/>
              </a:lnSpc>
              <a:buNone/>
            </a:pPr>
            <a:r>
              <a:rPr lang="en-IN" sz="1050" dirty="0">
                <a:solidFill>
                  <a:srgbClr val="E5DCE6"/>
                </a:solidFill>
                <a:latin typeface="Bricolage Grotesque ExtraBold" pitchFamily="34" charset="0"/>
                <a:ea typeface="Bricolage Grotesque ExtraBold" pitchFamily="34" charset="-122"/>
                <a:cs typeface="Bricolage Grotesque ExtraBold" pitchFamily="34" charset="-120"/>
              </a:rPr>
              <a:t>💡</a:t>
            </a:r>
            <a:r>
              <a:rPr lang="en-US" sz="1050" dirty="0">
                <a:solidFill>
                  <a:srgbClr val="E5DCE6"/>
                </a:solidFill>
                <a:latin typeface="Bricolage Grotesque ExtraBold" pitchFamily="34" charset="0"/>
                <a:ea typeface="Bricolage Grotesque ExtraBold" pitchFamily="34" charset="-122"/>
                <a:cs typeface="Bricolage Grotesque ExtraBold" pitchFamily="34" charset="-120"/>
              </a:rPr>
              <a:t> Invest in Satisfaction</a:t>
            </a:r>
            <a:endParaRPr lang="en-US" sz="1050" dirty="0"/>
          </a:p>
        </p:txBody>
      </p:sp>
      <p:sp>
        <p:nvSpPr>
          <p:cNvPr id="12" name="Text 9"/>
          <p:cNvSpPr/>
          <p:nvPr/>
        </p:nvSpPr>
        <p:spPr>
          <a:xfrm>
            <a:off x="604614" y="3500661"/>
            <a:ext cx="4505771"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E5DCE6"/>
                </a:solidFill>
                <a:latin typeface="Montserrat" pitchFamily="34" charset="0"/>
                <a:ea typeface="Montserrat" pitchFamily="34" charset="-122"/>
                <a:cs typeface="Montserrat" pitchFamily="34" charset="-120"/>
              </a:rPr>
              <a:t>Patient satisfaction showed one of the strongest associations with attendance. Improving the patient experience may help support better attendance.</a:t>
            </a:r>
            <a:endParaRPr lang="en-US" sz="850" dirty="0"/>
          </a:p>
        </p:txBody>
      </p:sp>
      <p:sp>
        <p:nvSpPr>
          <p:cNvPr id="13" name="Shape 10"/>
          <p:cNvSpPr/>
          <p:nvPr/>
        </p:nvSpPr>
        <p:spPr>
          <a:xfrm>
            <a:off x="496119" y="3998788"/>
            <a:ext cx="4722763" cy="747713"/>
          </a:xfrm>
          <a:prstGeom prst="roundRect">
            <a:avLst>
              <a:gd name="adj" fmla="val 6097"/>
            </a:avLst>
          </a:prstGeom>
          <a:solidFill>
            <a:srgbClr val="282D5E"/>
          </a:solidFill>
          <a:ln/>
        </p:spPr>
      </p:sp>
      <p:sp>
        <p:nvSpPr>
          <p:cNvPr id="14" name="Text 11"/>
          <p:cNvSpPr/>
          <p:nvPr/>
        </p:nvSpPr>
        <p:spPr>
          <a:xfrm>
            <a:off x="604614" y="4107284"/>
            <a:ext cx="1849710" cy="174278"/>
          </a:xfrm>
          <a:prstGeom prst="rect">
            <a:avLst/>
          </a:prstGeom>
          <a:noFill/>
          <a:ln/>
        </p:spPr>
        <p:txBody>
          <a:bodyPr wrap="none" lIns="0" tIns="0" rIns="0" bIns="0" rtlCol="0" anchor="t"/>
          <a:lstStyle/>
          <a:p>
            <a:pPr marL="0" indent="0" algn="l">
              <a:lnSpc>
                <a:spcPct val="104000"/>
              </a:lnSpc>
              <a:buNone/>
            </a:pPr>
            <a:r>
              <a:rPr lang="en-IN" sz="1050" dirty="0">
                <a:solidFill>
                  <a:srgbClr val="E5DCE6"/>
                </a:solidFill>
                <a:latin typeface="Bricolage Grotesque ExtraBold" pitchFamily="34" charset="0"/>
                <a:ea typeface="Bricolage Grotesque ExtraBold" pitchFamily="34" charset="-122"/>
                <a:cs typeface="Bricolage Grotesque ExtraBold" pitchFamily="34" charset="-120"/>
              </a:rPr>
              <a:t>🤝</a:t>
            </a:r>
            <a:r>
              <a:rPr lang="en-US" sz="1050" dirty="0">
                <a:solidFill>
                  <a:srgbClr val="E5DCE6"/>
                </a:solidFill>
                <a:latin typeface="Bricolage Grotesque ExtraBold" pitchFamily="34" charset="0"/>
                <a:ea typeface="Bricolage Grotesque ExtraBold" pitchFamily="34" charset="-122"/>
                <a:cs typeface="Bricolage Grotesque ExtraBold" pitchFamily="34" charset="-120"/>
              </a:rPr>
              <a:t> Address Access Barriers</a:t>
            </a:r>
            <a:endParaRPr lang="en-US" sz="1050" dirty="0"/>
          </a:p>
        </p:txBody>
      </p:sp>
      <p:sp>
        <p:nvSpPr>
          <p:cNvPr id="15" name="Text 12"/>
          <p:cNvSpPr/>
          <p:nvPr/>
        </p:nvSpPr>
        <p:spPr>
          <a:xfrm>
            <a:off x="604614" y="4331419"/>
            <a:ext cx="4505771"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E5DCE6"/>
                </a:solidFill>
                <a:latin typeface="Montserrat" pitchFamily="34" charset="0"/>
                <a:ea typeface="Montserrat" pitchFamily="34" charset="-122"/>
                <a:cs typeface="Montserrat" pitchFamily="34" charset="-120"/>
              </a:rPr>
              <a:t>Consider transportation support for patients traveling long distances or uninsured and proactive communication during adverse weather conditions.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845</Words>
  <Application>Microsoft Office PowerPoint</Application>
  <PresentationFormat>On-screen Show (16:9)</PresentationFormat>
  <Paragraphs>103</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Montserrat Bold</vt:lpstr>
      <vt:lpstr>Arial Black</vt:lpstr>
      <vt:lpstr>Montserrat</vt:lpstr>
      <vt:lpstr>Arial</vt:lpstr>
      <vt:lpstr>Bricolage Grotesque ExtraBold</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Akshay Kumar</cp:lastModifiedBy>
  <cp:revision>3</cp:revision>
  <dcterms:created xsi:type="dcterms:W3CDTF">2026-06-25T19:32:02Z</dcterms:created>
  <dcterms:modified xsi:type="dcterms:W3CDTF">2026-06-25T19:46:56Z</dcterms:modified>
</cp:coreProperties>
</file>